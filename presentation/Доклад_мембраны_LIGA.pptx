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Задача" id="{b9d8d6ee-535d-ccc8-e64d-271b9b792ba9}">
          <p14:sldIdLst>
            <p14:sldId id="256"/>
            <p14:sldId id="257"/>
            <p14:sldId id="258"/>
          </p14:sldIdLst>
        </p14:section>
        <p14:section name="2. Модель" id="{1cd7204f-c187-aa78-4774-1d42f9be5bce}">
          <p14:sldIdLst>
            <p14:sldId id="259"/>
            <p14:sldId id="260"/>
            <p14:sldId id="261"/>
            <p14:sldId id="262"/>
          </p14:sldIdLst>
        </p14:section>
        <p14:section name="3. Ограничения" id="{94ff9a45-d03f-238e-ad54-38b3df1f1e49}">
          <p14:sldIdLst>
            <p14:sldId id="263"/>
            <p14:sldId id="264"/>
          </p14:sldIdLst>
        </p14:section>
        <p14:section name="4. Результаты" id="{ade10b78-3193-c5dd-871d-e571538fc39d}">
          <p14:sldIdLst>
            <p14:sldId id="265"/>
            <p14:sldId id="266"/>
            <p14:sldId id="267"/>
            <p14:sldId id="268"/>
          </p14:sldIdLst>
        </p14:section>
        <p14:section name="5. Эксперимент" id="{6aa66a27-bc8e-28a7-a3c9-b795c9609a5c}">
          <p14:sldIdLst>
            <p14:sldId id="269"/>
            <p14:sldId id="270"/>
            <p14:sldId id="271"/>
          </p14:sldIdLst>
        </p14:section>
        <p14:section name="6. Выводы" id="{2c434f08-da55-2449-12bf-2142eb29ddd5}">
          <p14:sldIdLst>
            <p14:sldId id="272"/>
            <p14:sldId id="273"/>
          </p14:sldIdLst>
        </p14:section>
        <p14:section name="Литература" id="{c936b954-e69a-a7ef-63ec-315a704eb1c7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Спектр ВЭПП-3 (Швингер) и фильтры станции LIGA [6]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 без фильтров</c:v>
                </c:pt>
              </c:strCache>
            </c:strRef>
          </c:tx>
          <c:spPr>
            <a:solidFill>
              <a:srgbClr val="9AA5B1"/>
            </a:solidFill>
            <a:ln w="28575" cap="flat">
              <a:solidFill>
                <a:srgbClr val="9AA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1000000000</c:v>
                </c:pt>
                <c:pt idx="1">
                  <c:v>1815107463005163</c:v>
                </c:pt>
                <c:pt idx="2">
                  <c:v>2275516308260031.5</c:v>
                </c:pt>
                <c:pt idx="3">
                  <c:v>1401545950146226.8</c:v>
                </c:pt>
                <c:pt idx="4">
                  <c:v>946084044238332.2</c:v>
                </c:pt>
                <c:pt idx="5">
                  <c:v>670616881540823.8</c:v>
                </c:pt>
                <c:pt idx="6">
                  <c:v>490068351822392.94</c:v>
                </c:pt>
                <c:pt idx="7">
                  <c:v>365664108638305.5</c:v>
                </c:pt>
                <c:pt idx="8">
                  <c:v>276994216001620.4</c:v>
                </c:pt>
                <c:pt idx="9">
                  <c:v>212242325752071.12</c:v>
                </c:pt>
                <c:pt idx="10">
                  <c:v>164091710245263.66</c:v>
                </c:pt>
                <c:pt idx="11">
                  <c:v>127781631580646.78</c:v>
                </c:pt>
                <c:pt idx="12">
                  <c:v>100095441330553.81</c:v>
                </c:pt>
                <c:pt idx="13">
                  <c:v>78794996521616.34</c:v>
                </c:pt>
                <c:pt idx="14">
                  <c:v>62286244049929.02</c:v>
                </c:pt>
                <c:pt idx="15">
                  <c:v>49412285681453.33</c:v>
                </c:pt>
                <c:pt idx="16">
                  <c:v>39320452642589.43</c:v>
                </c:pt>
                <c:pt idx="17">
                  <c:v>31374227720241.043</c:v>
                </c:pt>
                <c:pt idx="18">
                  <c:v>25093343625538.293</c:v>
                </c:pt>
                <c:pt idx="19">
                  <c:v>20112136779158.727</c:v>
                </c:pt>
                <c:pt idx="20">
                  <c:v>16150045122096.727</c:v>
                </c:pt>
                <c:pt idx="21">
                  <c:v>12990370557489.465</c:v>
                </c:pt>
                <c:pt idx="22">
                  <c:v>10464778056772.943</c:v>
                </c:pt>
                <c:pt idx="23">
                  <c:v>8441845760360.752</c:v>
                </c:pt>
                <c:pt idx="24">
                  <c:v>6818519024975.515</c:v>
                </c:pt>
                <c:pt idx="25">
                  <c:v>5513673763439.429</c:v>
                </c:pt>
                <c:pt idx="26">
                  <c:v>4463229733240.629</c:v>
                </c:pt>
                <c:pt idx="27">
                  <c:v>3616414460426.2383</c:v>
                </c:pt>
                <c:pt idx="28">
                  <c:v>2932889122266.315</c:v>
                </c:pt>
                <c:pt idx="29">
                  <c:v>2380525340220.0054</c:v>
                </c:pt>
                <c:pt idx="30">
                  <c:v>1933677032659.3647</c:v>
                </c:pt>
                <c:pt idx="31">
                  <c:v>1571831200082.808</c:v>
                </c:pt>
                <c:pt idx="32">
                  <c:v>1278550414367.5234</c:v>
                </c:pt>
                <c:pt idx="33">
                  <c:v>1040641014855.8242</c:v>
                </c:pt>
                <c:pt idx="34">
                  <c:v>847496751229.9377</c:v>
                </c:pt>
                <c:pt idx="35">
                  <c:v>690579372115.4097</c:v>
                </c:pt>
                <c:pt idx="36">
                  <c:v>563006509116.4261</c:v>
                </c:pt>
                <c:pt idx="37">
                  <c:v>459223912041.50586</c:v>
                </c:pt>
                <c:pt idx="38">
                  <c:v>374744202799.8725</c:v>
                </c:pt>
                <c:pt idx="39">
                  <c:v>305938233281.5807</c:v>
                </c:pt>
                <c:pt idx="40">
                  <c:v>249868150345.06958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Be 500 мкм</c:v>
                </c:pt>
              </c:strCache>
            </c:strRef>
          </c:tx>
          <c:spPr>
            <a:solidFill>
              <a:srgbClr val="F39C3C"/>
            </a:solidFill>
            <a:ln w="28575" cap="flat">
              <a:solidFill>
                <a:srgbClr val="F39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39C3C"/>
              </a:solidFill>
              <a:ln w="9525" cap="flat">
                <a:solidFill>
                  <a:srgbClr val="F39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1000000000</c:v>
                </c:pt>
                <c:pt idx="1">
                  <c:v>1000000000</c:v>
                </c:pt>
                <c:pt idx="2">
                  <c:v>10404776217025.639</c:v>
                </c:pt>
                <c:pt idx="3">
                  <c:v>194369884916221.06</c:v>
                </c:pt>
                <c:pt idx="4">
                  <c:v>411557429283808.5</c:v>
                </c:pt>
                <c:pt idx="5">
                  <c:v>441954160845342.75</c:v>
                </c:pt>
                <c:pt idx="6">
                  <c:v>385558510726669.2</c:v>
                </c:pt>
                <c:pt idx="7">
                  <c:v>313490949081559.1</c:v>
                </c:pt>
                <c:pt idx="8">
                  <c:v>249184469439384.1</c:v>
                </c:pt>
                <c:pt idx="9">
                  <c:v>196246356141968.66</c:v>
                </c:pt>
                <c:pt idx="10">
                  <c:v>154432611555113.78</c:v>
                </c:pt>
                <c:pt idx="11">
                  <c:v>121500120567361.47</c:v>
                </c:pt>
                <c:pt idx="12">
                  <c:v>95888862758547.7</c:v>
                </c:pt>
                <c:pt idx="13">
                  <c:v>75929463009638.23</c:v>
                </c:pt>
                <c:pt idx="14">
                  <c:v>60305556225781.61</c:v>
                </c:pt>
                <c:pt idx="15">
                  <c:v>48018207246516.14</c:v>
                </c:pt>
                <c:pt idx="16">
                  <c:v>38292061544864.26</c:v>
                </c:pt>
                <c:pt idx="17">
                  <c:v>30605059503457.375</c:v>
                </c:pt>
                <c:pt idx="18">
                  <c:v>24514575171840.29</c:v>
                </c:pt>
                <c:pt idx="19">
                  <c:v>19674290395229.613</c:v>
                </c:pt>
                <c:pt idx="20">
                  <c:v>15816244596829.096</c:v>
                </c:pt>
                <c:pt idx="21">
                  <c:v>12729991404431.223</c:v>
                </c:pt>
                <c:pt idx="22">
                  <c:v>10260392019109.377</c:v>
                </c:pt>
                <c:pt idx="23">
                  <c:v>8281005778845.774</c:v>
                </c:pt>
                <c:pt idx="24">
                  <c:v>6691654985204.321</c:v>
                </c:pt>
                <c:pt idx="25">
                  <c:v>5413396908670.338</c:v>
                </c:pt>
                <c:pt idx="26">
                  <c:v>4383814010981.461</c:v>
                </c:pt>
                <c:pt idx="27">
                  <c:v>3553407229048.049</c:v>
                </c:pt>
                <c:pt idx="28">
                  <c:v>2882817207847.176</c:v>
                </c:pt>
                <c:pt idx="29">
                  <c:v>2340671892151.483</c:v>
                </c:pt>
                <c:pt idx="30">
                  <c:v>1901880495763.173</c:v>
                </c:pt>
                <c:pt idx="31">
                  <c:v>1546271584938.9468</c:v>
                </c:pt>
                <c:pt idx="32">
                  <c:v>1257960732794.7622</c:v>
                </c:pt>
                <c:pt idx="33">
                  <c:v>1024039579551.0222</c:v>
                </c:pt>
                <c:pt idx="34">
                  <c:v>834099444769.2821</c:v>
                </c:pt>
                <c:pt idx="35">
                  <c:v>679758990735.6235</c:v>
                </c:pt>
                <c:pt idx="36">
                  <c:v>554260695818.3308</c:v>
                </c:pt>
                <c:pt idx="37">
                  <c:v>452149807558.76355</c:v>
                </c:pt>
                <c:pt idx="38">
                  <c:v>369018365511.3824</c:v>
                </c:pt>
                <c:pt idx="39">
                  <c:v>301300702358.6257</c:v>
                </c:pt>
                <c:pt idx="40">
                  <c:v>246109052974.57175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Al 300 мкм</c:v>
                </c:pt>
              </c:strCache>
            </c:strRef>
          </c:tx>
          <c:spPr>
            <a:solidFill>
              <a:srgbClr val="1F8A9E"/>
            </a:solidFill>
            <a:ln w="28575" cap="flat">
              <a:solidFill>
                <a:srgbClr val="1F8A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8A9E"/>
              </a:solidFill>
              <a:ln w="9525" cap="flat">
                <a:solidFill>
                  <a:srgbClr val="1F8A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1000000000</c:v>
                </c:pt>
                <c:pt idx="1">
                  <c:v>1000000000</c:v>
                </c:pt>
                <c:pt idx="2">
                  <c:v>1000000000</c:v>
                </c:pt>
                <c:pt idx="3">
                  <c:v>1000000000</c:v>
                </c:pt>
                <c:pt idx="4">
                  <c:v>1000000000</c:v>
                </c:pt>
                <c:pt idx="5">
                  <c:v>1000000000</c:v>
                </c:pt>
                <c:pt idx="6">
                  <c:v>57190099214.702225</c:v>
                </c:pt>
                <c:pt idx="7">
                  <c:v>902633468406.5986</c:v>
                </c:pt>
                <c:pt idx="8">
                  <c:v>4375160898159.8525</c:v>
                </c:pt>
                <c:pt idx="9">
                  <c:v>10926252752743.479</c:v>
                </c:pt>
                <c:pt idx="10">
                  <c:v>18358547050029.367</c:v>
                </c:pt>
                <c:pt idx="11">
                  <c:v>24247327287690.242</c:v>
                </c:pt>
                <c:pt idx="12">
                  <c:v>27521603089059.094</c:v>
                </c:pt>
                <c:pt idx="13">
                  <c:v>28316068844431.81</c:v>
                </c:pt>
                <c:pt idx="14">
                  <c:v>27286574090899.48</c:v>
                </c:pt>
                <c:pt idx="15">
                  <c:v>25134471234492.78</c:v>
                </c:pt>
                <c:pt idx="16">
                  <c:v>22401371075995.906</c:v>
                </c:pt>
                <c:pt idx="17">
                  <c:v>19529966660543.1</c:v>
                </c:pt>
                <c:pt idx="18">
                  <c:v>16760880057184.402</c:v>
                </c:pt>
                <c:pt idx="19">
                  <c:v>14218942616023.16</c:v>
                </c:pt>
                <c:pt idx="20">
                  <c:v>11955343862842.559</c:v>
                </c:pt>
                <c:pt idx="21">
                  <c:v>9969911260348.908</c:v>
                </c:pt>
                <c:pt idx="22">
                  <c:v>8275452174050.68</c:v>
                </c:pt>
                <c:pt idx="23">
                  <c:v>6846528881528.456</c:v>
                </c:pt>
                <c:pt idx="24">
                  <c:v>5650126946840.318</c:v>
                </c:pt>
                <c:pt idx="25">
                  <c:v>4653795848229.715</c:v>
                </c:pt>
                <c:pt idx="26">
                  <c:v>3827471261559.731</c:v>
                </c:pt>
                <c:pt idx="27">
                  <c:v>3144289635570.648</c:v>
                </c:pt>
                <c:pt idx="28">
                  <c:v>2580813483428.668</c:v>
                </c:pt>
                <c:pt idx="29">
                  <c:v>2116929492906.917</c:v>
                </c:pt>
                <c:pt idx="30">
                  <c:v>1735331451325.0723</c:v>
                </c:pt>
                <c:pt idx="31">
                  <c:v>1420822533223.0522</c:v>
                </c:pt>
                <c:pt idx="32">
                  <c:v>1163053072171.36</c:v>
                </c:pt>
                <c:pt idx="33">
                  <c:v>952047517725.2485</c:v>
                </c:pt>
                <c:pt idx="34">
                  <c:v>779352941651.5793</c:v>
                </c:pt>
                <c:pt idx="35">
                  <c:v>638027883369.9941</c:v>
                </c:pt>
                <c:pt idx="36">
                  <c:v>522378919611.5362</c:v>
                </c:pt>
                <c:pt idx="37">
                  <c:v>427740515799.93915</c:v>
                </c:pt>
                <c:pt idx="38">
                  <c:v>350292052239.4518</c:v>
                </c:pt>
                <c:pt idx="39">
                  <c:v>286906377853.0003</c:v>
                </c:pt>
                <c:pt idx="40">
                  <c:v>235010743461.55362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+ Al 450 мкм</c:v>
                </c:pt>
              </c:strCache>
            </c:strRef>
          </c:tx>
          <c:spPr>
            <a:solidFill>
              <a:srgbClr val="7B5EA7"/>
            </a:solidFill>
            <a:ln w="28575" cap="flat">
              <a:solidFill>
                <a:srgbClr val="7B5E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5EA7"/>
              </a:solidFill>
              <a:ln w="9525" cap="flat">
                <a:solidFill>
                  <a:srgbClr val="7B5E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1000000000</c:v>
                </c:pt>
                <c:pt idx="1">
                  <c:v>1000000000</c:v>
                </c:pt>
                <c:pt idx="2">
                  <c:v>1000000000</c:v>
                </c:pt>
                <c:pt idx="3">
                  <c:v>1000000000</c:v>
                </c:pt>
                <c:pt idx="4">
                  <c:v>1000000000</c:v>
                </c:pt>
                <c:pt idx="5">
                  <c:v>1000000000</c:v>
                </c:pt>
                <c:pt idx="6">
                  <c:v>1000000000</c:v>
                </c:pt>
                <c:pt idx="7">
                  <c:v>56136916821.681885</c:v>
                </c:pt>
                <c:pt idx="8">
                  <c:v>616721018581.5356</c:v>
                </c:pt>
                <c:pt idx="9">
                  <c:v>2647076232568.0015</c:v>
                </c:pt>
                <c:pt idx="10">
                  <c:v>6405510222058.583</c:v>
                </c:pt>
                <c:pt idx="11">
                  <c:v>10893971771765.494</c:v>
                </c:pt>
                <c:pt idx="12">
                  <c:v>14786958675082.72</c:v>
                </c:pt>
                <c:pt idx="13">
                  <c:v>17318537553858.441</c:v>
                </c:pt>
                <c:pt idx="14">
                  <c:v>18370318702408.266</c:v>
                </c:pt>
                <c:pt idx="15">
                  <c:v>18193467049963.484</c:v>
                </c:pt>
                <c:pt idx="16">
                  <c:v>17138983550486.215</c:v>
                </c:pt>
                <c:pt idx="17">
                  <c:v>15603964553640.389</c:v>
                </c:pt>
                <c:pt idx="18">
                  <c:v>13860654133160.648</c:v>
                </c:pt>
                <c:pt idx="19">
                  <c:v>12088839086933.426</c:v>
                </c:pt>
                <c:pt idx="20">
                  <c:v>10394713341253.457</c:v>
                </c:pt>
                <c:pt idx="21">
                  <c:v>8823412918738.186</c:v>
                </c:pt>
                <c:pt idx="22">
                  <c:v>7432164229678.969</c:v>
                </c:pt>
                <c:pt idx="23">
                  <c:v>6225454347942.291</c:v>
                </c:pt>
                <c:pt idx="24">
                  <c:v>5191891074648.755</c:v>
                </c:pt>
                <c:pt idx="25">
                  <c:v>4314989687471.4365</c:v>
                </c:pt>
                <c:pt idx="26">
                  <c:v>3576387828438.724</c:v>
                </c:pt>
                <c:pt idx="27">
                  <c:v>2957763225917.919</c:v>
                </c:pt>
                <c:pt idx="28">
                  <c:v>2441900469835.401</c:v>
                </c:pt>
                <c:pt idx="29">
                  <c:v>2013216756912.0125</c:v>
                </c:pt>
                <c:pt idx="30">
                  <c:v>1657611971422.3606</c:v>
                </c:pt>
                <c:pt idx="31">
                  <c:v>1361969658728.9211</c:v>
                </c:pt>
                <c:pt idx="32">
                  <c:v>1118320313132.2441</c:v>
                </c:pt>
                <c:pt idx="33">
                  <c:v>917973062218.6426</c:v>
                </c:pt>
                <c:pt idx="34">
                  <c:v>753342823478.6199</c:v>
                </c:pt>
                <c:pt idx="35">
                  <c:v>618133466017.4651</c:v>
                </c:pt>
                <c:pt idx="36">
                  <c:v>507132716277.7201</c:v>
                </c:pt>
                <c:pt idx="37">
                  <c:v>416034722902.9961</c:v>
                </c:pt>
                <c:pt idx="38">
                  <c:v>341288439737.51263</c:v>
                </c:pt>
                <c:pt idx="39">
                  <c:v>279969261446.1856</c:v>
                </c:pt>
                <c:pt idx="40">
                  <c:v>229650748057.6732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+ Al 800 мкм</c:v>
                </c:pt>
              </c:strCache>
            </c:strRef>
          </c:tx>
          <c:spPr>
            <a:solidFill>
              <a:srgbClr val="0F2B46"/>
            </a:solidFill>
            <a:ln w="28575" cap="flat">
              <a:solidFill>
                <a:srgbClr val="0F2B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2B46"/>
              </a:solidFill>
              <a:ln w="9525" cap="flat">
                <a:solidFill>
                  <a:srgbClr val="0F2B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Sheet1!$F$2:$F$42</c:f>
              <c:numCache>
                <c:formatCode>General</c:formatCode>
                <c:ptCount val="41"/>
                <c:pt idx="0">
                  <c:v>1000000000</c:v>
                </c:pt>
                <c:pt idx="1">
                  <c:v>1000000000</c:v>
                </c:pt>
                <c:pt idx="2">
                  <c:v>1000000000</c:v>
                </c:pt>
                <c:pt idx="3">
                  <c:v>1000000000</c:v>
                </c:pt>
                <c:pt idx="4">
                  <c:v>1000000000</c:v>
                </c:pt>
                <c:pt idx="5">
                  <c:v>1000000000</c:v>
                </c:pt>
                <c:pt idx="6">
                  <c:v>1000000000</c:v>
                </c:pt>
                <c:pt idx="7">
                  <c:v>1000000000</c:v>
                </c:pt>
                <c:pt idx="8">
                  <c:v>7234744509.904652</c:v>
                </c:pt>
                <c:pt idx="9">
                  <c:v>102978110927.40262</c:v>
                </c:pt>
                <c:pt idx="10">
                  <c:v>565313580621.7031</c:v>
                </c:pt>
                <c:pt idx="11">
                  <c:v>1708723945659.607</c:v>
                </c:pt>
                <c:pt idx="12">
                  <c:v>3495930288840.1714</c:v>
                </c:pt>
                <c:pt idx="13">
                  <c:v>5520915106064.113</c:v>
                </c:pt>
                <c:pt idx="14">
                  <c:v>7313663673956.85</c:v>
                </c:pt>
                <c:pt idx="15">
                  <c:v>8569888794183.796</c:v>
                </c:pt>
                <c:pt idx="16">
                  <c:v>9182756532582.992</c:v>
                </c:pt>
                <c:pt idx="17">
                  <c:v>9247375912772.572</c:v>
                </c:pt>
                <c:pt idx="18">
                  <c:v>8899887932825.582</c:v>
                </c:pt>
                <c:pt idx="19">
                  <c:v>8279630716864.462</c:v>
                </c:pt>
                <c:pt idx="20">
                  <c:v>7500983759418.474</c:v>
                </c:pt>
                <c:pt idx="21">
                  <c:v>6635564885343.021</c:v>
                </c:pt>
                <c:pt idx="22">
                  <c:v>5784005538553.38</c:v>
                </c:pt>
                <c:pt idx="23">
                  <c:v>4986820916415.569</c:v>
                </c:pt>
                <c:pt idx="24">
                  <c:v>4262154105117.1973</c:v>
                </c:pt>
                <c:pt idx="25">
                  <c:v>3617359873859.8516</c:v>
                </c:pt>
                <c:pt idx="26">
                  <c:v>3052774052618.082</c:v>
                </c:pt>
                <c:pt idx="27">
                  <c:v>2564469110166.681</c:v>
                </c:pt>
                <c:pt idx="28">
                  <c:v>2146175276037.5964</c:v>
                </c:pt>
                <c:pt idx="29">
                  <c:v>1790564722643.6665</c:v>
                </c:pt>
                <c:pt idx="30">
                  <c:v>1489541854880.686</c:v>
                </c:pt>
                <c:pt idx="31">
                  <c:v>1233956810418.9639</c:v>
                </c:pt>
                <c:pt idx="32">
                  <c:v>1020523443465.2509</c:v>
                </c:pt>
                <c:pt idx="33">
                  <c:v>843135340430.6248</c:v>
                </c:pt>
                <c:pt idx="34">
                  <c:v>695979668405.2532</c:v>
                </c:pt>
                <c:pt idx="35">
                  <c:v>574093062508.1079</c:v>
                </c:pt>
                <c:pt idx="36">
                  <c:v>473266898190.12964</c:v>
                </c:pt>
                <c:pt idx="37">
                  <c:v>389952282061.70557</c:v>
                </c:pt>
                <c:pt idx="38">
                  <c:v>321169997133.9218</c:v>
                </c:pt>
                <c:pt idx="39">
                  <c:v>264428143882.60153</c:v>
                </c:pt>
                <c:pt idx="40">
                  <c:v>217614800143.30878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5568"/>
                    </a:solidFill>
                    <a:latin typeface="+mn-lt"/>
                  </a:rPr>
                  <a:t>энергия фотона, кэВ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logBase val="10"/>
          <c:orientation val="minMax"/>
          <c:max val="10000000000000000"/>
          <c:min val="1000000000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5568"/>
                    </a:solidFill>
                    <a:latin typeface="+mn-lt"/>
                  </a:rPr>
                  <a:t>фотоны / (с·мрад·кэВ), 100 мА</a:t>
                </a:r>
              </a:p>
            </c:rich>
          </c:tx>
          <c:layout/>
          <c:overlay val="0"/>
        </c:title>
        <c:numFmt formatCode="0E+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f мембр, %: окно 300 мкм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под окном (открыто)</c:v>
                </c:pt>
              </c:strCache>
            </c:strRef>
          </c:tx>
          <c:spPr>
            <a:solidFill>
              <a:srgbClr val="9CC9D3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</c:v>
                </c:pt>
                <c:pt idx="1">
                  <c:v>0.14</c:v>
                </c:pt>
                <c:pt idx="2">
                  <c:v>3.95</c:v>
                </c:pt>
                <c:pt idx="3">
                  <c:v>0.85</c:v>
                </c:pt>
                <c:pt idx="4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под золотом (тень)</c:v>
                </c:pt>
              </c:strCache>
            </c:strRef>
          </c:tx>
          <c:spPr>
            <a:solidFill>
              <a:srgbClr val="0F2B4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0.29</c:v>
                </c:pt>
                <c:pt idx="1">
                  <c:v>0.21</c:v>
                </c:pt>
                <c:pt idx="2">
                  <c:v>5.38</c:v>
                </c:pt>
                <c:pt idx="3">
                  <c:v>2.93</c:v>
                </c:pt>
                <c:pt idx="4">
                  <c:v>1.59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5568"/>
                    </a:solidFill>
                    <a:latin typeface="+mn-lt"/>
                  </a:rPr>
                  <a:t>доля дозы от историй с рассеянием в мембране, %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+mn-lt"/>
              </a:rPr>
              <a:t>Вероятность рассеяния фотона 20 кэВ в мембране,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рэлеевское</c:v>
                </c:pt>
              </c:strCache>
            </c:strRef>
          </c:tx>
          <c:spPr>
            <a:solidFill>
              <a:srgbClr val="B832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 2,3 мкм</c:v>
                  </c:pt>
                  <c:pt idx="1">
                    <c:v>Al₂O₃ 525 мкм</c:v>
                  </c:pt>
                  <c:pt idx="2">
                    <c:v>Стеклоуглерод 475 мкм</c:v>
                  </c:pt>
                  <c:pt idx="3">
                    <c:v>Be 200 мкм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0.05</c:v>
                </c:pt>
                <c:pt idx="1">
                  <c:v>3.32</c:v>
                </c:pt>
                <c:pt idx="2">
                  <c:v>0.46</c:v>
                </c:pt>
                <c:pt idx="3">
                  <c:v>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комптоновское</c:v>
                </c:pt>
              </c:strCache>
            </c:strRef>
          </c:tx>
          <c:spPr>
            <a:solidFill>
              <a:srgbClr val="E68F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 2,3 мкм</c:v>
                  </c:pt>
                  <c:pt idx="1">
                    <c:v>Al₂O₃ 525 мкм</c:v>
                  </c:pt>
                  <c:pt idx="2">
                    <c:v>Стеклоуглерод 475 мкм</c:v>
                  </c:pt>
                  <c:pt idx="3">
                    <c:v>Be 200 мкм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0.01</c:v>
                </c:pt>
                <c:pt idx="1">
                  <c:v>3.04</c:v>
                </c:pt>
                <c:pt idx="2">
                  <c:v>1.13</c:v>
                </c:pt>
                <c:pt idx="3">
                  <c:v>0.55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Разложение дозы в тени по историям, окно 300 мкм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прямое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37.55</c:v>
                </c:pt>
                <c:pt idx="1">
                  <c:v>42.77</c:v>
                </c:pt>
                <c:pt idx="2">
                  <c:v>42.58</c:v>
                </c:pt>
                <c:pt idx="3">
                  <c:v>41.53</c:v>
                </c:pt>
                <c:pt idx="4">
                  <c:v>42.19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мембрана: рэлей</c:v>
                </c:pt>
              </c:strCache>
            </c:strRef>
          </c:tx>
          <c:spPr>
            <a:solidFill>
              <a:srgbClr val="B832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0.25</c:v>
                </c:pt>
                <c:pt idx="1">
                  <c:v>0.21</c:v>
                </c:pt>
                <c:pt idx="2">
                  <c:v>3.32</c:v>
                </c:pt>
                <c:pt idx="3">
                  <c:v>1.18</c:v>
                </c:pt>
                <c:pt idx="4">
                  <c:v>0.47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мембрана: комптон</c:v>
                </c:pt>
              </c:strCache>
            </c:strRef>
          </c:tx>
          <c:spPr>
            <a:solidFill>
              <a:srgbClr val="E68F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0.04</c:v>
                </c:pt>
                <c:pt idx="1">
                  <c:v>0</c:v>
                </c:pt>
                <c:pt idx="2">
                  <c:v>2.06</c:v>
                </c:pt>
                <c:pt idx="3">
                  <c:v>1.75</c:v>
                </c:pt>
                <c:pt idx="4">
                  <c:v>1.12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Al-фильтр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0.25</c:v>
                </c:pt>
                <c:pt idx="1">
                  <c:v>0</c:v>
                </c:pt>
                <c:pt idx="2">
                  <c:v>0.13</c:v>
                </c:pt>
                <c:pt idx="3">
                  <c:v>0.09</c:v>
                </c:pt>
                <c:pt idx="4">
                  <c:v>0.27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Ti-основа</c:v>
                </c:pt>
              </c:strCache>
            </c:strRef>
          </c:tx>
          <c:spPr>
            <a:solidFill>
              <a:srgbClr val="8A93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0.37</c:v>
                </c:pt>
                <c:pt idx="1">
                  <c:v>0.37</c:v>
                </c:pt>
                <c:pt idx="2">
                  <c:v>0.11</c:v>
                </c:pt>
                <c:pt idx="3">
                  <c:v>0.22</c:v>
                </c:pt>
                <c:pt idx="4">
                  <c:v>0.23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Au, каптон, газ</c:v>
                </c:pt>
              </c:strCache>
            </c:strRef>
          </c:tx>
          <c:spPr>
            <a:solidFill>
              <a:srgbClr val="F2D0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4.74</c:v>
                </c:pt>
                <c:pt idx="1">
                  <c:v>5.65</c:v>
                </c:pt>
                <c:pt idx="2">
                  <c:v>4.48</c:v>
                </c:pt>
                <c:pt idx="3">
                  <c:v>4.93</c:v>
                </c:pt>
                <c:pt idx="4">
                  <c:v>4.91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внутри ПММА</c:v>
                </c:pt>
              </c:strCache>
            </c:strRef>
          </c:tx>
          <c:spPr>
            <a:solidFill>
              <a:srgbClr val="9CC9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3.11</c:v>
                </c:pt>
                <c:pt idx="1">
                  <c:v>4.79</c:v>
                </c:pt>
                <c:pt idx="2">
                  <c:v>4.45</c:v>
                </c:pt>
                <c:pt idx="3">
                  <c:v>3.56</c:v>
                </c:pt>
                <c:pt idx="4">
                  <c:v>4.45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вторичное излучение шаблона</c:v>
                </c:pt>
              </c:strCache>
            </c:strRef>
          </c:tx>
          <c:spPr>
            <a:solidFill>
              <a:srgbClr val="C788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 2.3 мкм (расчёт)</c:v>
                  </c:pt>
                  <c:pt idx="1">
                    <c:v>Al₂O₃ 525 мкм, 280 мм</c:v>
                  </c:pt>
                  <c:pt idx="2">
                    <c:v>Al₂O₃ 525 мкм, контакт</c:v>
                  </c:pt>
                  <c:pt idx="3">
                    <c:v>Стеклоуглерод 475 мкм</c:v>
                  </c:pt>
                  <c:pt idx="4">
                    <c:v>Be 200 мкм</c:v>
                  </c:pt>
                </c:lvl>
              </c:multiLvlStrCache>
            </c:multiLvl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53.71</c:v>
                </c:pt>
                <c:pt idx="1">
                  <c:v>46.19</c:v>
                </c:pt>
                <c:pt idx="2">
                  <c:v>42.86</c:v>
                </c:pt>
                <c:pt idx="3">
                  <c:v>46.75</c:v>
                </c:pt>
                <c:pt idx="4">
                  <c:v>46.36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+mn-lt"/>
              </a:rPr>
              <a:t>Ширина края для одного и того же окна (мембрана · окно, мкм)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Geant4: ширина 10–90 % дозы, мкм</c:v>
                </c:pt>
              </c:strCache>
            </c:strRef>
          </c:tx>
          <c:spPr>
            <a:solidFill>
              <a:srgbClr val="0F2B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Al₂O₃ 280 · 600</c:v>
                  </c:pt>
                  <c:pt idx="1">
                    <c:v>Al₂O₃ 280 · 300</c:v>
                  </c:pt>
                  <c:pt idx="2">
                    <c:v>Al₂O₃ 280 · 105</c:v>
                  </c:pt>
                  <c:pt idx="3">
                    <c:v>Al₂O₃ 280 · 60</c:v>
                  </c:pt>
                  <c:pt idx="4">
                    <c:v>Al₂O₃ 280 · 20</c:v>
                  </c:pt>
                  <c:pt idx="5">
                    <c:v>Al₂O₃ к. · 600</c:v>
                  </c:pt>
                  <c:pt idx="6">
                    <c:v>Al₂O₃ к. · 105</c:v>
                  </c:pt>
                  <c:pt idx="7">
                    <c:v>Al₂O₃ к. · 60</c:v>
                  </c:pt>
                  <c:pt idx="8">
                    <c:v>Al₂O₃ к. · 20</c:v>
                  </c:pt>
                  <c:pt idx="9">
                    <c:v>СУ · 600</c:v>
                  </c:pt>
                  <c:pt idx="10">
                    <c:v>СУ · 300</c:v>
                  </c:pt>
                  <c:pt idx="11">
                    <c:v>СУ · 129</c:v>
                  </c:pt>
                  <c:pt idx="12">
                    <c:v>СУ · 15</c:v>
                  </c:pt>
                  <c:pt idx="13">
                    <c:v>Be · 300</c:v>
                  </c:pt>
                  <c:pt idx="14">
                    <c:v>Be · 200</c:v>
                  </c:pt>
                  <c:pt idx="15">
                    <c:v>Be · 20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5.84</c:v>
                </c:pt>
                <c:pt idx="1">
                  <c:v>4.85</c:v>
                </c:pt>
                <c:pt idx="2">
                  <c:v>4.79</c:v>
                </c:pt>
                <c:pt idx="3">
                  <c:v>4.06</c:v>
                </c:pt>
                <c:pt idx="4">
                  <c:v>3.63</c:v>
                </c:pt>
                <c:pt idx="5">
                  <c:v>5.73</c:v>
                </c:pt>
                <c:pt idx="6">
                  <c:v>4.7</c:v>
                </c:pt>
                <c:pt idx="7">
                  <c:v>5.2</c:v>
                </c:pt>
                <c:pt idx="8">
                  <c:v>4.54</c:v>
                </c:pt>
                <c:pt idx="9">
                  <c:v>4.57</c:v>
                </c:pt>
                <c:pt idx="10">
                  <c:v>4.93</c:v>
                </c:pt>
                <c:pt idx="11">
                  <c:v>4</c:v>
                </c:pt>
                <c:pt idx="12">
                  <c:v>3.95</c:v>
                </c:pt>
                <c:pt idx="13">
                  <c:v>5.3</c:v>
                </c:pt>
                <c:pt idx="14">
                  <c:v>5.14</c:v>
                </c:pt>
                <c:pt idx="15">
                  <c:v>3.75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аппроксимация ТЗ того же окна, «мкм»</c:v>
                </c:pt>
              </c:strCache>
            </c:strRef>
          </c:tx>
          <c:spPr>
            <a:solidFill>
              <a:srgbClr val="1F8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Al₂O₃ 280 · 600</c:v>
                  </c:pt>
                  <c:pt idx="1">
                    <c:v>Al₂O₃ 280 · 300</c:v>
                  </c:pt>
                  <c:pt idx="2">
                    <c:v>Al₂O₃ 280 · 105</c:v>
                  </c:pt>
                  <c:pt idx="3">
                    <c:v>Al₂O₃ 280 · 60</c:v>
                  </c:pt>
                  <c:pt idx="4">
                    <c:v>Al₂O₃ 280 · 20</c:v>
                  </c:pt>
                  <c:pt idx="5">
                    <c:v>Al₂O₃ к. · 600</c:v>
                  </c:pt>
                  <c:pt idx="6">
                    <c:v>Al₂O₃ к. · 105</c:v>
                  </c:pt>
                  <c:pt idx="7">
                    <c:v>Al₂O₃ к. · 60</c:v>
                  </c:pt>
                  <c:pt idx="8">
                    <c:v>Al₂O₃ к. · 20</c:v>
                  </c:pt>
                  <c:pt idx="9">
                    <c:v>СУ · 600</c:v>
                  </c:pt>
                  <c:pt idx="10">
                    <c:v>СУ · 300</c:v>
                  </c:pt>
                  <c:pt idx="11">
                    <c:v>СУ · 129</c:v>
                  </c:pt>
                  <c:pt idx="12">
                    <c:v>СУ · 15</c:v>
                  </c:pt>
                  <c:pt idx="13">
                    <c:v>Be · 300</c:v>
                  </c:pt>
                  <c:pt idx="14">
                    <c:v>Be · 200</c:v>
                  </c:pt>
                  <c:pt idx="15">
                    <c:v>Be · 20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1.55</c:v>
                </c:pt>
                <c:pt idx="1">
                  <c:v>0.15</c:v>
                </c:pt>
                <c:pt idx="2">
                  <c:v>2.59</c:v>
                </c:pt>
                <c:pt idx="3">
                  <c:v>3.91</c:v>
                </c:pt>
                <c:pt idx="4">
                  <c:v>1.28</c:v>
                </c:pt>
                <c:pt idx="5">
                  <c:v>5.18</c:v>
                </c:pt>
                <c:pt idx="6">
                  <c:v>3.62</c:v>
                </c:pt>
                <c:pt idx="7">
                  <c:v>1.46</c:v>
                </c:pt>
                <c:pt idx="8">
                  <c:v>1.45</c:v>
                </c:pt>
                <c:pt idx="9">
                  <c:v>7.25</c:v>
                </c:pt>
                <c:pt idx="10">
                  <c:v>7.25</c:v>
                </c:pt>
                <c:pt idx="11">
                  <c:v>7.25</c:v>
                </c:pt>
                <c:pt idx="12">
                  <c:v>4.14</c:v>
                </c:pt>
                <c:pt idx="13">
                  <c:v>28.98</c:v>
                </c:pt>
                <c:pt idx="14">
                  <c:v>5.18</c:v>
                </c:pt>
                <c:pt idx="15">
                  <c:v>5.18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5568"/>
                    </a:solidFill>
                    <a:latin typeface="+mn-lt"/>
                  </a:rPr>
                  <a:t>ширина перехода 10–90 %, мкм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доклада — рассеяние синхротронного излучения мембранами масок для рентгенолитографии на станции LIGA ВЭПП-3. Мы построили модель Geant4 экспериментов, сделанных у нас в лаборатории, и сравнили её с экспериментом. План: зачем это нужно, что моделировали, ограничения модели, результаты по материалам, эксперимент и сравнение, выводы и планы.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это важно. LIGA-технология и рентгеновская литография позволяют делать высокоаспектные микроструктуры с субмикронной точностью [1]. Ключевой элемент процесса — рентгеновская маска: рисунок из золота на мембране, прозрачной для излучения. Главная характеристика маски — контраст, то есть отношение доз в резисте под открытыми и под затенёнными участками [2]. Весь пучок проходит через мембрану, поэтому её толщина, материал и структура — поры стеклоуглерода, монокристалличность сапфира, шероховатость и поликристалличность бериллия — влияют на распределение дозы в резисте за счёт рассеяния; вторичные процессы вообще ограничивают разрешение рентгенолитографии [3, 4]. Выбор материала мембраны — компромисс между прозрачностью, толщиной, механической прочностью и стабильностью размеров [2]; стеклоуглерод, например, даёт гладкие стенки структур [5]. И практическая сторона: в России масок для глубокой рентгенолитографии не производят, зарубежные стоят порядка 10–20 тысяч евро, поэтому в ИЯФ маски делают сами — на стеклоуглероде и титане [2, 7]. Значит, нужен обоснованный выбор материала мембраны. Отсюда вопрос работы: какой вклад даёт рассеяние в мембране и как он зависит от материала, толщины и положения мембраны. Модель отрабатываем на мембранах, уже исследованных у нас, чтобы потом давать рекомендации для проектирования масок.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количественно определить, какую часть поглощённой дозы в ПММА формируют фотоны, рассеянные в мембране, и как материал, толщина и положение мембраны влияют на дозу у краёв окон шаблона; практический итог — рекомендации по материалу и толщине мембран при проектировании масок. Подход: берём четыре эксперимента, сделанных у нас — бериллий 200 мкм, стеклоуглерод 475, лейкосапфир 525 вплотную к маске и тот же сапфир в 280 мм от маски, — моделируем их в Geant4 с теми же фильтрами и экспозициями, сравниваем с профилями углублений в сверхмолекулярном ПММА [8] и, если модель работает, применяем её к новым материалам и толщинам. Пятый вариант — титан 2,3 мкм — пока только расчётный. Параметры взяты из техзаданий к экспериментам и из «Схем»; все расхождения между документами зафиксированы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 — поворотный магнит ВЭПП-3: 2 ГэВ, 2 Тл, критическая энергия 5,3 кэВ. Спектр считали по формуле Швингера с учётом поляризации. Пучок проходит бериллиевые окна 500 мкм и алюминиевый фильтр 300–800 мкм, поэтому мягкая часть полностью срезается и до маски доходит жёсткий спектр со средней энергией 18–20 кэВ. Это важно для всего дальнейшего: ПММА 15 мкм поглощает такие фотоны слабо, доза почти не меняется по глубине, а золото 22 мкм пропускает заметную долю жёстких фотонов. Нормировку проверили независимо: плотность мощности 3,12 Вт/см² против 3,1 в диссертации Гольденберга, время набора дозы 8,1 мин против 7′45″.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схема, по которой строится геометрия модели, — она соответствует «Схемам» из лаборатории. Пучок от поворотного магнита проходит бериллиевые окна 500 мкм, примерно через 20 м — алюминиевый фильтр, через 20 см в гелии — исследуемую мембрану, затем шаблон: золото 22 мкм с квадратным окном на титановой основе 2,3 мкм, каптон и ПММА 15 мкм. Окна в золоте от 15 до 600 мкм. Сборка сканируется вертикально на ±15 мм. Расчёт идёт в два этапа: сначала транспорт через фильтры до плоскости перед мембраной — он общий для всех отверстий и кэшируется; затем подробный транспорт в локальной стопке с регистрацией дозы на сетке до 0,25 мкм у края окна. Для варианта с сапфиром в 280 мм сапфир входит в первый этап.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именно считаем. Слева — сечение у края окна. Прямые фотоны проходят через окно и создают основную дозу. Часть фотонов рассеивается в мембране — рэлеевски или комптоновски — и может попасть в ПММА под золотом; это и есть основной объект исследования. Но есть конкуренты: золото и титан при поглощении жёстких фотонов испускают флуоресценцию, а фото- и оже-электроны размазывают энергию на несколько микрон. Чтобы разделить эти вклады, каждая история в Geant4 несёт маску, где и как фотон рассеивался, вторичные частицы её наследуют. В итоге доза раскладывается на непересекающиеся категории, и мы получаем долю дозы от историй с рассеянием в мембране отдельно для открытой области и для тени.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Физика — пакет Livermore: фотоэффект, рэлеевское и комптоновское рассеяние, атомная релаксация с флуоресценцией и оже-электронами. Поляризацию СИ генератор учитывает; для контроля сравнивали с Penelope и Standard option4 — разброс дозы не больше 2 %. Поскольку ПММА поглощает лишь доли процента фотонов, прямой расчёт неэффективен; поэтому используем двухэтапный транспорт, принудительное взаимодействие — оно даёт выигрыш эффективности примерно в 150 раз и проверено на несмещённость, — выборку по значимости у края и отсечение электронов. Все ускорения проверены сравнением с аналоговым расчётом. Коэффициенты ослабления Geant4 совпадают с NIST в пределах 4,8 %, нормировка — с диссертацией в пределах 0,5–4 %. Автоматическая валидация: 36 проверок, провалов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модели я ставлю до результатов, чтобы было понятно, к чему относятся числа. Geant4 описывает мембраны как однородные аморфные слои с табличной плотностью и атомными сечениями свободных атомов. Не учтены: монокристалличность сапфира и брэгговская дифракция; поликристалличность бериллия и титана — зёрна и текстура, когерентное рассеяние в реальности собирается в кольца Дебая–Шеррера; малоугловое рассеяние на порах стеклоуглерода — оно сместит фотоны на доли микрона, это меньше пробега электронов; шероховатость. Подложка, зазоры и ориентация шаблона — параметры в модели есть, но прогоны чувствительности ещё не сделаны. Проявление ПММА описано только феноменологически. Главное следствие: для сапфира наш вклад рассеяния — скорее оценка снизу.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Второе принципиальное ограничение — Geant4 корпускулярный: фотон — частица, фаз нет. Мы теряем френелевскую дифракцию на краю окна, интерференцию когерентного рассеяния — брэгговские рефлексы, кольца, малоугловое рассеяние — и фазовый контраст. Зато получаем то, чего волновой подход не даёт: полный каскад вторичных электронов и флуоресценции, трёхмерный транспорт в многослойной стопке, абсолютную дозу и её разложение по механизмам. Оценка справа показывает, почему для края этого достаточно: ширина зоны Френеля при 20 кэВ на расстоянии 42 мкм — около 0,05 мкм, а ширина дозового края в модели 3,2–6,2 мкм; её задают электроны. Волновые эффекты существенны только внутри кристаллических и пористых мембран, их надо оценивать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результат по материалам — для окна 300 мкм, оно есть во всех опытах. По горизонтали — доля дозы, которую дают истории с рассеянием в мембране, отдельно под окном и под золотом. Под окном рассеяние добавляет мало: меньше 1 % у бериллия, стеклоуглерода и титана. В тени — там, где доза должна быть минимальной, — его доля выше, потому что прямой дозы там мало. Явный лидер — лейкосапфир вплотную к маске: 4,0 % под окном и 5,4 % в тени. Если тот же сапфир отнести на 280 мм, вклад в тени падает примерно в 25 раз. Статистика — профиль quick, 2 млн историй на окно.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полного прогона у нас есть все 22 окна. В таблице — доля дозы от историй с рассеянием в мембране: первое число под окном, второе в тени; цвет — величина в тени. Видна закономерность: чем больше окно, тем больше вклад рассеяния. Объяснение геометрическое: в точку ПММА под окном рассеянные фотоны приходят из конуса, ограниченного краями окна в золоте; чем шире окно, тем большая площадь мембраны «видна» из ПММА. У сапфира вплотную вклад под окном растёт от 0,7 до 4,5 %, у стеклоуглерода — от 0,07 до 1,0 %. Для сапфира в 280 мм зависимости нет: рассеянные фотоны приходят к маске почти равномерным фоном, и доля остаётся на уровне десятых процента. Практический вывод: для крупных окон требования к мембране жёстче.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сапфир выделяется. Первая причина — масса на пути пучка: у сапфира 525 мкм поверхностная плотность 209 мг/см², у бериллия 37, у стеклоуглерода 71, у титановой плёнки — 1. Вероятность рассеяния пропорциональна этой величине и сечению: при 20 кэВ фотон рассеивается в сапфире с вероятностью около 6 %, в бериллии — меньше 1 %. Вторая причина — состав: у сапфира кислород и алюминий, рэлеевское сечение растёт примерно как Z², и у сапфира рэлей даёт половину рассеяния. Рэлеевское рассеяние направлено вперёд под малыми углами, поэтому такие фотоны доходят до ПММА рядом с краем окна — в тени у сапфира рэлей даёт 3,3 % из 5,4 % «мембранного» вклада. Третья причина — расстояние: если мембрана в 280 мм от маски, рассеянные фотоны расходятся по большой площади, и до окрестности окна доходит в десятки раз меньше. Отдельно: сапфир пропускает лишь около 60 % при 20 кэВ, то есть ещё и заметно снижает полезную дозу. Поскольку вклад пропорционален ρd, толщину мембраны можно подбирать под допустимый уровень рассеяния — это следующий шаг моделирования.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Важный побочный результат: откуда вообще берётся доза под золотом. 38–43 % — прямые жёсткие фотоны, прошедшие через 22 мкм золота: при 20–30 кэВ золото пропускает от 3 до 30 %. Ещё 43–54 % — вторичное излучение самого шаблона: L-флуоресценция золота, K-флуоресценция титана, фотоэлектроны каптона. Рассеяние в мембране даже у сапфира — несколько процентов. Справа — профиль дозы поперёк края для сапфира вплотную: полная доза падает примерно в 18 раз на нескольких микронах, вклад мембраны на порядок ниже флуоресценции. Ширина края 3,2–6,2 мкм определяется пробегом фотоэлектронов, а не рассеянием в мембране.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эксперимент. Образцы экспонировались на станции LIGA через исследуемую мембрану и шаблон с окнами от 15 до 600 мкм, экспозиции 30–37 тысяч мА·мин. Резист — сверхмолекулярный ПММА 15 мкм, проявление 1 минута. Рельеф измерялся микроинтерферометром МИИ-4 после напыления золота, всего в архиве 106 снимков. Профили краёв были аппроксимированы функцией арктангенса. Мы дополнительно сделали независимую обработку архива двумя методами — отслеживанием полос и фурье-методом; справа пример: относительный профиль глубины удаётся получить для 63 кадров из 106.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о недостатках эксперимента — они прямо влияют на возможность сходимости. Первое: нет горизонтальной калибровки и карты отверстий, поэтому профили есть только в пикселях и кадр нельзя надёжно приписать конкретному отверстию. Второе: в архиве скриншоты в JPEG, а не исходные кадры, и одиночный кадр определяет фазу только по модулю 2π — глубина через крутую стенку неоднозначна. Третье: в аппроксимациях высоты до 112 «мкм» при толщине резиста 15 мкм — единицы явно не микроны. Четвёртое: измеряется рельеф, а не доза; между ними — кинетика растворения, которую мы не знаем. Пятое: расчётная доза под окном ниже табличного порога ПММА, хотя углубления есть — вопрос либо к записанным экспозициям, либо к порогу для сверхмолекулярного ПММА. И расхождения в документах. Тем не менее сравнение на уровне ширин переходов сделать можно.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по окнам: для каждого окна, где есть и расчёт, и аппроксимация из техзадания, — 16 пар. Тёмные столбцы — ширина перехода дозы от 10 до 90 % в модели, бирюзовые — ширина аппроксимации того же окна. Порядок величин совпадает — единицы микрон, в пределах двух раз совпадают 10 из 16 окон. Но связи по окнам нет: модель почти не зависит от размера окна (3,6–5,8 мкм), а аппроксимации скачут — у бериллия от 5,2 до 29,0 «мкм», у сапфира в 280 мм есть 0,15 мкм — ниже разрешения микроинтерферометра; коэффициент корреляции 0,18. Доза так сильно между окнами не меняется, значит этот разброс дают проявление и измерение. Если пропустить дозу через простую модель проявления с боковым травлением, получаем 0,2–3,1 мкм — тот же порядок. Подчеркну: сравниваются разные величины, и единицы аппроксимаций не подтверждены, поэтому говорить о хорошем количественном согласии пока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Выводы. Первое: сама модель проверена независимо от наших экспериментов — по диссертации и по NIST. Второе: качественная сходимость с экспериментом есть — ширины краёв одного порядка, и понятно, что их формирует. Третье: количественной сходимости пока нет, и это ограничение данных, а не модели: нет калибровки масштаба, единиц аппроксимаций и зависимости скорости растворения от дозы. Четвёртое, практическое: рассеяние в мембране под окном мало для бериллия, стеклоуглерода и титана; у сапфира вплотную оно заметно, особенно в тени и для крупных окон, и убирается, если сапфир отнести от маски. Отсюда рекомендация: для масок вплотную к резисту — лёгкие мембраны (Be, стеклоуглерод, Ti), сапфир — только на расстоянии.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делать дальше. Для эксперимента: самое важное — калибровка горизонтального масштаба и карта отверстий, без этого кадры не привязать. Дальше — исходные кадры камеры и серии со сдвигом фазы, чтобы снять неоднозначность глубины; независимый метод измерения профиля, например профилометр или СЭМ скола; калибровка скорости растворения от дозы на одном образце при фиксированных времени и температуре проявления; и фиксировать в журнале подложку, зазоры, толщины. Для моделирования: набрать рабочую статистику, сделать прогоны чувствительности, отдельно оценить брэгговские рефлексы в сапфире и малоугловое рассеяние в стеклоуглероде, построить сквозную цепочку доза — проявление — рельеф с честной проверкой на отложенных отверстиях, и прогнать тем же конвейером новые кандидаты мембран. Отдельно — скан толщин мембран: вклад рассеяния растёт пропорционально массе на пути пучка, и скан даст допустимые диапазоны толщин, которые нужны для практических рекомендаций.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источников. [1] — LIGA в целом; [2] — диссертация Гольденберга: маски, контраст, параметры станции; [3, 4] — вторичные процессы в глубокой рентгенолитографии; [5] — стеклоуглерод как основа маски; [6, 7] — станция LIGA на ВЭПП-3 и маски ЦКП; [8] — сверхмолекулярный ПММА; [9] — влияние проявления; [10] — Geant4; [11] — 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39496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Станция LIGA · ВЭПП-3 · Geant4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image" Target="../media/image-16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СТАНЦИЯ LIGA · ВЭПП-3 · GEANT4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Рассеяние синхротронного излучения мембранами масок для рентгенолитографии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40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Моделирование Geant4 и эксперименты на ВЭПП-3: как материал, толщина и положение мембраны влияют на дозу в ПММА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А. А. Неустроева, В. П. Назьмов, Б. Г. Гольденберг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ИЯФ СО РАН · ЦКП «СКИФ» ИК СО РАН · ИХТТМ СО РАН · 2026</a:t>
            </a:r>
            <a:endParaRPr lang="en-US" sz="1600" dirty="0"/>
          </a:p>
        </p:txBody>
      </p:sp>
      <p:sp>
        <p:nvSpPr>
          <p:cNvPr id="6" name="Луч 1"/>
          <p:cNvSpPr/>
          <p:nvPr/>
        </p:nvSpPr>
        <p:spPr>
          <a:xfrm>
            <a:off x="8229600" y="1828800"/>
            <a:ext cx="1371600" cy="0"/>
          </a:xfrm>
          <a:prstGeom prst="line">
            <a:avLst/>
          </a:prstGeom>
          <a:noFill/>
          <a:ln w="25400">
            <a:solidFill>
              <a:srgbClr val="E3A21A">
                <a:alpha val="70000"/>
              </a:srgbClr>
            </a:solidFill>
            <a:prstDash val="solid"/>
          </a:ln>
        </p:spPr>
      </p:sp>
      <p:sp>
        <p:nvSpPr>
          <p:cNvPr id="7" name="Луч 2"/>
          <p:cNvSpPr/>
          <p:nvPr/>
        </p:nvSpPr>
        <p:spPr>
          <a:xfrm>
            <a:off x="8229600" y="2286000"/>
            <a:ext cx="1371600" cy="0"/>
          </a:xfrm>
          <a:prstGeom prst="line">
            <a:avLst/>
          </a:prstGeom>
          <a:noFill/>
          <a:ln w="25400">
            <a:solidFill>
              <a:srgbClr val="E3A21A">
                <a:alpha val="70000"/>
              </a:srgbClr>
            </a:solidFill>
            <a:prstDash val="solid"/>
          </a:ln>
        </p:spPr>
      </p:sp>
      <p:sp>
        <p:nvSpPr>
          <p:cNvPr id="8" name="Луч 3"/>
          <p:cNvSpPr/>
          <p:nvPr/>
        </p:nvSpPr>
        <p:spPr>
          <a:xfrm>
            <a:off x="8229600" y="2743200"/>
            <a:ext cx="1371600" cy="0"/>
          </a:xfrm>
          <a:prstGeom prst="line">
            <a:avLst/>
          </a:prstGeom>
          <a:noFill/>
          <a:ln w="25400">
            <a:solidFill>
              <a:srgbClr val="E3A21A">
                <a:alpha val="70000"/>
              </a:srgbClr>
            </a:solidFill>
            <a:prstDash val="solid"/>
          </a:ln>
        </p:spPr>
      </p:sp>
      <p:sp>
        <p:nvSpPr>
          <p:cNvPr id="9" name="Луч 4"/>
          <p:cNvSpPr/>
          <p:nvPr/>
        </p:nvSpPr>
        <p:spPr>
          <a:xfrm>
            <a:off x="8229600" y="3200400"/>
            <a:ext cx="1371600" cy="0"/>
          </a:xfrm>
          <a:prstGeom prst="line">
            <a:avLst/>
          </a:prstGeom>
          <a:noFill/>
          <a:ln w="25400">
            <a:solidFill>
              <a:srgbClr val="E3A21A">
                <a:alpha val="70000"/>
              </a:srgbClr>
            </a:solidFill>
            <a:prstDash val="solid"/>
          </a:ln>
        </p:spPr>
      </p:sp>
      <p:sp>
        <p:nvSpPr>
          <p:cNvPr id="10" name="Луч 5"/>
          <p:cNvSpPr/>
          <p:nvPr/>
        </p:nvSpPr>
        <p:spPr>
          <a:xfrm>
            <a:off x="8229600" y="3657600"/>
            <a:ext cx="1371600" cy="0"/>
          </a:xfrm>
          <a:prstGeom prst="line">
            <a:avLst/>
          </a:prstGeom>
          <a:noFill/>
          <a:ln w="25400">
            <a:solidFill>
              <a:srgbClr val="E3A21A">
                <a:alpha val="70000"/>
              </a:srgbClr>
            </a:solidFill>
            <a:prstDash val="solid"/>
          </a:ln>
        </p:spPr>
      </p:sp>
      <p:sp>
        <p:nvSpPr>
          <p:cNvPr id="11" name="Луч 6"/>
          <p:cNvSpPr/>
          <p:nvPr/>
        </p:nvSpPr>
        <p:spPr>
          <a:xfrm>
            <a:off x="8229600" y="4114800"/>
            <a:ext cx="1371600" cy="0"/>
          </a:xfrm>
          <a:prstGeom prst="line">
            <a:avLst/>
          </a:prstGeom>
          <a:noFill/>
          <a:ln w="25400">
            <a:solidFill>
              <a:srgbClr val="E3A21A">
                <a:alpha val="70000"/>
              </a:srgbClr>
            </a:solidFill>
            <a:prstDash val="solid"/>
          </a:ln>
        </p:spPr>
      </p:sp>
      <p:sp>
        <p:nvSpPr>
          <p:cNvPr id="12" name="Луч 7"/>
          <p:cNvSpPr/>
          <p:nvPr/>
        </p:nvSpPr>
        <p:spPr>
          <a:xfrm>
            <a:off x="8229600" y="4572000"/>
            <a:ext cx="1371600" cy="0"/>
          </a:xfrm>
          <a:prstGeom prst="line">
            <a:avLst/>
          </a:prstGeom>
          <a:noFill/>
          <a:ln w="25400">
            <a:solidFill>
              <a:srgbClr val="E3A21A">
                <a:alpha val="70000"/>
              </a:srgbClr>
            </a:solidFill>
            <a:prstDash val="solid"/>
          </a:ln>
        </p:spPr>
      </p:sp>
      <p:sp>
        <p:nvSpPr>
          <p:cNvPr id="13" name="Au верх"/>
          <p:cNvSpPr/>
          <p:nvPr/>
        </p:nvSpPr>
        <p:spPr>
          <a:xfrm>
            <a:off x="9646920" y="1463040"/>
            <a:ext cx="320040" cy="1463040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14" name="Au низ"/>
          <p:cNvSpPr/>
          <p:nvPr/>
        </p:nvSpPr>
        <p:spPr>
          <a:xfrm>
            <a:off x="9646920" y="4114800"/>
            <a:ext cx="320040" cy="1463040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15" name="Ti"/>
          <p:cNvSpPr/>
          <p:nvPr/>
        </p:nvSpPr>
        <p:spPr>
          <a:xfrm>
            <a:off x="9966960" y="1463040"/>
            <a:ext cx="73152" cy="4114800"/>
          </a:xfrm>
          <a:prstGeom prst="rect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16" name="Каптон"/>
          <p:cNvSpPr/>
          <p:nvPr/>
        </p:nvSpPr>
        <p:spPr>
          <a:xfrm>
            <a:off x="10040112" y="1463040"/>
            <a:ext cx="164592" cy="4114800"/>
          </a:xfrm>
          <a:prstGeom prst="rect">
            <a:avLst/>
          </a:prstGeom>
          <a:solidFill>
            <a:srgbClr val="5BC8D6"/>
          </a:solidFill>
          <a:ln w="12700">
            <a:solidFill>
              <a:srgbClr val="5BC8D6"/>
            </a:solidFill>
            <a:prstDash val="solid"/>
          </a:ln>
        </p:spPr>
      </p:sp>
      <p:sp>
        <p:nvSpPr>
          <p:cNvPr id="17" name="ПММА"/>
          <p:cNvSpPr/>
          <p:nvPr/>
        </p:nvSpPr>
        <p:spPr>
          <a:xfrm>
            <a:off x="10204704" y="1463040"/>
            <a:ext cx="457200" cy="411480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8" name="Экспонированная область"/>
          <p:cNvSpPr/>
          <p:nvPr/>
        </p:nvSpPr>
        <p:spPr>
          <a:xfrm>
            <a:off x="10204704" y="2926080"/>
            <a:ext cx="457200" cy="1188720"/>
          </a:xfrm>
          <a:prstGeom prst="rect">
            <a:avLst/>
          </a:prstGeom>
          <a:solidFill>
            <a:srgbClr val="9CC9D3"/>
          </a:solidFill>
          <a:ln w="12700">
            <a:solidFill>
              <a:srgbClr val="9CC9D3"/>
            </a:solidFill>
            <a:prstDash val="solid"/>
          </a:ln>
        </p:spPr>
      </p:sp>
      <p:sp>
        <p:nvSpPr>
          <p:cNvPr id="19" name="Прямой луч"/>
          <p:cNvSpPr/>
          <p:nvPr/>
        </p:nvSpPr>
        <p:spPr>
          <a:xfrm>
            <a:off x="9601200" y="3520440"/>
            <a:ext cx="1645920" cy="0"/>
          </a:xfrm>
          <a:prstGeom prst="line">
            <a:avLst/>
          </a:prstGeom>
          <a:noFill/>
          <a:ln w="31750">
            <a:solidFill>
              <a:srgbClr val="E3A21A"/>
            </a:solidFill>
            <a:prstDash val="solid"/>
            <a:tailEnd type="triangle"/>
          </a:ln>
        </p:spPr>
      </p:sp>
      <p:sp>
        <p:nvSpPr>
          <p:cNvPr id="20" name="Рассеянный фотон"/>
          <p:cNvSpPr/>
          <p:nvPr/>
        </p:nvSpPr>
        <p:spPr>
          <a:xfrm>
            <a:off x="8686800" y="3291840"/>
            <a:ext cx="2103120" cy="1463040"/>
          </a:xfrm>
          <a:prstGeom prst="line">
            <a:avLst/>
          </a:prstGeom>
          <a:noFill/>
          <a:ln w="22225">
            <a:solidFill>
              <a:srgbClr val="F08080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1 · ПОСТАНОВКА ЗАДАЧИ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 маски влияет на качество структур</a:t>
            </a:r>
            <a:endParaRPr lang="en-US" sz="3000" dirty="0"/>
          </a:p>
        </p:txBody>
      </p:sp>
      <p:sp>
        <p:nvSpPr>
          <p:cNvPr id="4" name="Карточка 1"/>
          <p:cNvSpPr/>
          <p:nvPr/>
        </p:nvSpPr>
        <p:spPr>
          <a:xfrm>
            <a:off x="54864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Иконка 1 — круг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Иконка 1 —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940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45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Маска — ключевой элемент LIGA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Рисунок из Au на прозрачной мембране; качество структуры задаёт контраст шаблона — отношение доз под открытыми и затенёнными участками [1, 2].</a:t>
            </a:r>
            <a:endParaRPr lang="en-US" sz="1400" dirty="0"/>
          </a:p>
        </p:txBody>
      </p:sp>
      <p:sp>
        <p:nvSpPr>
          <p:cNvPr id="9" name="Карточка 2"/>
          <p:cNvSpPr/>
          <p:nvPr/>
        </p:nvSpPr>
        <p:spPr>
          <a:xfrm>
            <a:off x="443484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Иконка 2 — круг"/>
          <p:cNvSpPr/>
          <p:nvPr/>
        </p:nvSpPr>
        <p:spPr>
          <a:xfrm>
            <a:off x="466344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Иконка 2 —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573" y="17940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645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Мембрана меняет дозу в резисте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331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Толщина, материал и структура мембраны (поры, кристалл, шероховатость) перераспределяют дозу за счёт рассеяния; вторичные процессы ограничивают разрешение [3, 4].</a:t>
            </a:r>
            <a:endParaRPr lang="en-US" sz="1400" dirty="0"/>
          </a:p>
        </p:txBody>
      </p:sp>
      <p:sp>
        <p:nvSpPr>
          <p:cNvPr id="14" name="Карточка 3"/>
          <p:cNvSpPr/>
          <p:nvPr/>
        </p:nvSpPr>
        <p:spPr>
          <a:xfrm>
            <a:off x="548640" y="393192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Иконка 3 — круг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Иконка 3 —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30865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Выбор материала — компромисс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846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Прозрачность против толщины, механической прочности и стабильности размеров: Be, C, Si, полимеры [2]; стеклоуглерод даёт гладкие стенки структур [5].</a:t>
            </a:r>
            <a:endParaRPr lang="en-US" sz="1400" dirty="0"/>
          </a:p>
        </p:txBody>
      </p:sp>
      <p:sp>
        <p:nvSpPr>
          <p:cNvPr id="19" name="Карточка 4"/>
          <p:cNvSpPr/>
          <p:nvPr/>
        </p:nvSpPr>
        <p:spPr>
          <a:xfrm>
            <a:off x="4434840" y="393192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Иконка 4 — круг"/>
          <p:cNvSpPr/>
          <p:nvPr/>
        </p:nvSpPr>
        <p:spPr>
          <a:xfrm>
            <a:off x="4663440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Иконка 4 —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573" y="430865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4924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Маски делаем сами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4846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РФ нет производства масок для глубокой рентгенолитографии, зарубежные — 10–20 тыс. евро [2]; в ИЯФ — маски на стеклоуглероде 450±50 мкм и Ti [2, 7].</a:t>
            </a:r>
            <a:endParaRPr lang="en-US" sz="1400" dirty="0"/>
          </a:p>
        </p:txBody>
      </p:sp>
      <p:sp>
        <p:nvSpPr>
          <p:cNvPr id="24" name="Вопрос работы"/>
          <p:cNvSpPr/>
          <p:nvPr/>
        </p:nvSpPr>
        <p:spPr>
          <a:xfrm>
            <a:off x="8412480" y="1417320"/>
            <a:ext cx="3230575" cy="4754880"/>
          </a:xfrm>
          <a:prstGeom prst="roundRect">
            <a:avLst>
              <a:gd name="adj" fmla="val 22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Вопрос — круг"/>
          <p:cNvSpPr/>
          <p:nvPr/>
        </p:nvSpPr>
        <p:spPr>
          <a:xfrm>
            <a:off x="868680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Вопрос — иконк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622" y="1910182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686800" y="2560320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работы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8686800" y="3108960"/>
            <a:ext cx="268193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Какой вклад в дозу ПММА даёт рассеяние в мембране маски и как он зависит от материала, толщины и положения мембраны?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Модель отрабатываем на мембранах, уже исследованных в лаборатории, — затем даём рекомендации для проектирования масок.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1 · ПОСТАНОВКА ЗАДАЧИ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и подход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Цель: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количественно определить, какую часть дозы в ПММА формируют фотоны, рассеянные в мембране, и как материал, толщина и положение мембраны меняют дозу у краёв окон шаблона.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Итог — рекомендации по материалу и толщине мембраны.</a:t>
            </a:r>
            <a:endParaRPr lang="en-US" sz="1500" dirty="0"/>
          </a:p>
        </p:txBody>
      </p:sp>
      <p:sp>
        <p:nvSpPr>
          <p:cNvPr id="5" name="Шаг 1"/>
          <p:cNvSpPr/>
          <p:nvPr/>
        </p:nvSpPr>
        <p:spPr>
          <a:xfrm>
            <a:off x="548640" y="2194560"/>
            <a:ext cx="2697480" cy="109728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Эксперименты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Be, стеклоуглерод, Al₂O₃ (2 положения); ПММА 10⁷ г/моль [8]</a:t>
            </a:r>
            <a:endParaRPr lang="en-US" sz="1400" dirty="0"/>
          </a:p>
        </p:txBody>
      </p:sp>
      <p:sp>
        <p:nvSpPr>
          <p:cNvPr id="7" name="Шаг 2"/>
          <p:cNvSpPr/>
          <p:nvPr/>
        </p:nvSpPr>
        <p:spPr>
          <a:xfrm>
            <a:off x="3364992" y="2194560"/>
            <a:ext cx="2697480" cy="109728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13632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Модель Geant4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те же геометрия, фильтры, экспозиции</a:t>
            </a:r>
            <a:endParaRPr lang="en-US" sz="1400" dirty="0"/>
          </a:p>
        </p:txBody>
      </p:sp>
      <p:sp>
        <p:nvSpPr>
          <p:cNvPr id="9" name="Шаг 3"/>
          <p:cNvSpPr/>
          <p:nvPr/>
        </p:nvSpPr>
        <p:spPr>
          <a:xfrm>
            <a:off x="6181344" y="2194560"/>
            <a:ext cx="2697480" cy="109728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9984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Сравнение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профили краёв углублений</a:t>
            </a:r>
            <a:endParaRPr lang="en-US" sz="1400" dirty="0"/>
          </a:p>
        </p:txBody>
      </p:sp>
      <p:sp>
        <p:nvSpPr>
          <p:cNvPr id="11" name="Шаг 4"/>
          <p:cNvSpPr/>
          <p:nvPr/>
        </p:nvSpPr>
        <p:spPr>
          <a:xfrm>
            <a:off x="8997696" y="2194560"/>
            <a:ext cx="2697480" cy="10972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46336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Прогноз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новые материалы (Ti и др.)</a:t>
            </a:r>
            <a:endParaRPr lang="en-US" sz="1400" dirty="0"/>
          </a:p>
        </p:txBody>
      </p:sp>
      <p:graphicFrame>
        <p:nvGraphicFramePr>
          <p:cNvPr id="4" name="Таблица конфигураций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08760"/>
                <a:gridCol w="1051560"/>
                <a:gridCol w="914400"/>
                <a:gridCol w="1508760"/>
                <a:gridCol w="2011680"/>
                <a:gridCol w="14447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Мембрана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Положение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Al-фильтр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Каптон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Экспозиция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Отверстия в Au,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200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вплотную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 мА·мин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20, 200, 300, 600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эксперимент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Стеклоуглерод 475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вплотную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 мА·мин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15, 129, 300, 600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эксперимент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Лейкосапфир Al₂O₃ 525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вплотную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37 000 мА·мин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20, 60, 105, 300, 600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эксперимент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Лейкосапфир Al₂O₃ 525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 мм до маски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 мА·мин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20, 60, 105, 300, 600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эксперимент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2,3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вплотную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мкм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 мА·мин*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15, 20, 300, 600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расчёт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Общее для всех: Be-окна 500 мкм, 20,3 м до источника, сканирование ±15 мм, шаблон Au 22 мкм на Ti 2,3 мкм, ПММА 15 мкм, He 50 кПа.   * принятая нормировка, опыта нет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2 · ЧТО МОДЕЛИРОВАЛИ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Пучок станции LIGA: что приходит к маске</a:t>
            </a:r>
            <a:endParaRPr lang="en-US" sz="3000" dirty="0"/>
          </a:p>
        </p:txBody>
      </p:sp>
      <p:graphicFrame>
        <p:nvGraphicFramePr>
          <p:cNvPr id="4" name="Спектр СИ" descr=""/>
          <p:cNvGraphicFramePr/>
          <p:nvPr/>
        </p:nvGraphicFramePr>
        <p:xfrm>
          <a:off x="548640" y="1417320"/>
          <a:ext cx="72237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Параметр 1"/>
          <p:cNvSpPr/>
          <p:nvPr/>
        </p:nvSpPr>
        <p:spPr>
          <a:xfrm>
            <a:off x="8138160" y="1417320"/>
            <a:ext cx="3504895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527048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ГэВ, 2 Тл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01168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энергия электронов и поле → Eс = 5,3 кэВ</a:t>
            </a:r>
            <a:endParaRPr lang="en-US" sz="1300" dirty="0"/>
          </a:p>
        </p:txBody>
      </p:sp>
      <p:sp>
        <p:nvSpPr>
          <p:cNvPr id="8" name="Параметр 2"/>
          <p:cNvSpPr/>
          <p:nvPr/>
        </p:nvSpPr>
        <p:spPr>
          <a:xfrm>
            <a:off x="8138160" y="2633472"/>
            <a:ext cx="3504895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74320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20,3 м · ±15 мм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227832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до образца; вертикальное сканирование</a:t>
            </a:r>
            <a:endParaRPr lang="en-US" sz="1300" dirty="0"/>
          </a:p>
        </p:txBody>
      </p:sp>
      <p:sp>
        <p:nvSpPr>
          <p:cNvPr id="11" name="Параметр 3"/>
          <p:cNvSpPr/>
          <p:nvPr/>
        </p:nvSpPr>
        <p:spPr>
          <a:xfrm>
            <a:off x="8138160" y="3849624"/>
            <a:ext cx="3504895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959352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18–20 кэВ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4443984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средняя энергия после Be 500 мкм + Al 300–800 мкм</a:t>
            </a:r>
            <a:endParaRPr lang="en-US" sz="1300" dirty="0"/>
          </a:p>
        </p:txBody>
      </p:sp>
      <p:sp>
        <p:nvSpPr>
          <p:cNvPr id="14" name="Параметр 4"/>
          <p:cNvSpPr/>
          <p:nvPr/>
        </p:nvSpPr>
        <p:spPr>
          <a:xfrm>
            <a:off x="8138160" y="5065776"/>
            <a:ext cx="3504895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5175504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3,12 Вт/см²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5660136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плотность мощности; в диссертации 3,1 Вт/см²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2 · ЧТО МОДЕЛИРОВАЛИ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эксперимента в модели</a:t>
            </a:r>
            <a:endParaRPr lang="en-US" sz="3000" dirty="0"/>
          </a:p>
        </p:txBody>
      </p:sp>
      <p:sp>
        <p:nvSpPr>
          <p:cNvPr id="4" name="Источник"/>
          <p:cNvSpPr/>
          <p:nvPr/>
        </p:nvSpPr>
        <p:spPr>
          <a:xfrm>
            <a:off x="594360" y="3044952"/>
            <a:ext cx="768096" cy="7680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044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9319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ВЭПП-3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поворотный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магнит</a:t>
            </a:r>
            <a:endParaRPr lang="en-US" sz="1200" dirty="0"/>
          </a:p>
        </p:txBody>
      </p:sp>
      <p:sp>
        <p:nvSpPr>
          <p:cNvPr id="7" name="Пучок СИ"/>
          <p:cNvSpPr/>
          <p:nvPr/>
        </p:nvSpPr>
        <p:spPr>
          <a:xfrm>
            <a:off x="1371600" y="3154680"/>
            <a:ext cx="9326880" cy="548640"/>
          </a:xfrm>
          <a:prstGeom prst="rightArrow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6A10"/>
                </a:solidFill>
              </a:rPr>
              <a:t>пучок СИ: полихроматический,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A6A10"/>
                </a:solidFill>
              </a:rPr>
              <a:t>поляризованный</a:t>
            </a:r>
            <a:endParaRPr lang="en-US" sz="1100" dirty="0"/>
          </a:p>
        </p:txBody>
      </p:sp>
      <p:sp>
        <p:nvSpPr>
          <p:cNvPr id="9" name="Be-окна"/>
          <p:cNvSpPr/>
          <p:nvPr/>
        </p:nvSpPr>
        <p:spPr>
          <a:xfrm>
            <a:off x="1828800" y="2926080"/>
            <a:ext cx="685800" cy="1005840"/>
          </a:xfrm>
          <a:prstGeom prst="cube">
            <a:avLst/>
          </a:prstGeom>
          <a:solidFill>
            <a:srgbClr val="F39C3C"/>
          </a:solidFill>
          <a:ln w="9525">
            <a:solidFill>
              <a:srgbClr val="B86E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5146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Be-окна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023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500 мкм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(100+100+300)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282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A10"/>
                </a:solidFill>
              </a:rPr>
              <a:t>≈ 20 м</a:t>
            </a:r>
            <a:endParaRPr lang="en-US" sz="1300" dirty="0"/>
          </a:p>
        </p:txBody>
      </p:sp>
      <p:sp>
        <p:nvSpPr>
          <p:cNvPr id="13" name="Al-фильтр"/>
          <p:cNvSpPr/>
          <p:nvPr/>
        </p:nvSpPr>
        <p:spPr>
          <a:xfrm>
            <a:off x="4160520" y="2926080"/>
            <a:ext cx="548640" cy="1005840"/>
          </a:xfrm>
          <a:prstGeom prst="cube">
            <a:avLst/>
          </a:prstGeom>
          <a:solidFill>
            <a:srgbClr val="D5D9DF"/>
          </a:solidFill>
          <a:ln w="9525">
            <a:solidFill>
              <a:srgbClr val="9AA1A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25146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Al-фильтр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023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300 / 450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800 мкм</a:t>
            </a:r>
            <a:endParaRPr lang="en-US" sz="1200" dirty="0"/>
          </a:p>
        </p:txBody>
      </p:sp>
      <p:sp>
        <p:nvSpPr>
          <p:cNvPr id="16" name="20 см"/>
          <p:cNvSpPr/>
          <p:nvPr/>
        </p:nvSpPr>
        <p:spPr>
          <a:xfrm>
            <a:off x="4892040" y="2880360"/>
            <a:ext cx="1600200" cy="914"/>
          </a:xfrm>
          <a:prstGeom prst="line">
            <a:avLst/>
          </a:prstGeom>
          <a:noFill/>
          <a:ln w="12700">
            <a:solidFill>
              <a:srgbClr val="1B1F2A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892040" y="25328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20 см, He 50 кПа</a:t>
            </a:r>
            <a:endParaRPr lang="en-US" sz="1200" dirty="0"/>
          </a:p>
        </p:txBody>
      </p:sp>
      <p:sp>
        <p:nvSpPr>
          <p:cNvPr id="18" name="Мембрана"/>
          <p:cNvSpPr/>
          <p:nvPr/>
        </p:nvSpPr>
        <p:spPr>
          <a:xfrm>
            <a:off x="6583680" y="2788920"/>
            <a:ext cx="1143000" cy="1280160"/>
          </a:xfrm>
          <a:prstGeom prst="cube">
            <a:avLst/>
          </a:prstGeom>
          <a:solidFill>
            <a:srgbClr val="9B7BC8"/>
          </a:solidFill>
          <a:ln w="9525">
            <a:solidFill>
              <a:srgbClr val="6E4F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E8C"/>
                </a:solidFill>
              </a:rPr>
              <a:t>Мембрана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4160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3E8C"/>
                </a:solidFill>
              </a:rPr>
              <a:t>Be 200 · стеклоуглерод 475 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3E8C"/>
                </a:solidFill>
              </a:rPr>
              <a:t>Al₂O₃ 525 · Ti 2,3 мкм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3E8C"/>
                </a:solidFill>
              </a:rPr>
              <a:t>(Al₂O₃ также в 280 мм от маски)</a:t>
            </a:r>
            <a:endParaRPr lang="en-US" sz="1200" dirty="0"/>
          </a:p>
        </p:txBody>
      </p:sp>
      <p:sp>
        <p:nvSpPr>
          <p:cNvPr id="21" name="Au"/>
          <p:cNvSpPr/>
          <p:nvPr/>
        </p:nvSpPr>
        <p:spPr>
          <a:xfrm>
            <a:off x="8366760" y="2788920"/>
            <a:ext cx="457200" cy="1280160"/>
          </a:xfrm>
          <a:prstGeom prst="rect">
            <a:avLst/>
          </a:prstGeom>
          <a:solidFill>
            <a:srgbClr val="E3A2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22 мкм</a:t>
            </a:r>
            <a:endParaRPr lang="en-US" sz="1100" dirty="0"/>
          </a:p>
        </p:txBody>
      </p:sp>
      <p:sp>
        <p:nvSpPr>
          <p:cNvPr id="23" name="Выноска Au"/>
          <p:cNvSpPr/>
          <p:nvPr/>
        </p:nvSpPr>
        <p:spPr>
          <a:xfrm>
            <a:off x="8412480" y="2441448"/>
            <a:ext cx="182880" cy="329184"/>
          </a:xfrm>
          <a:prstGeom prst="line">
            <a:avLst/>
          </a:prstGeom>
          <a:noFill/>
          <a:ln w="9525">
            <a:solidFill>
              <a:srgbClr val="6C7A89"/>
            </a:solidFill>
            <a:prstDash val="solid"/>
          </a:ln>
        </p:spPr>
      </p:sp>
      <p:sp>
        <p:nvSpPr>
          <p:cNvPr id="24" name="Ti"/>
          <p:cNvSpPr/>
          <p:nvPr/>
        </p:nvSpPr>
        <p:spPr>
          <a:xfrm>
            <a:off x="8823960" y="2788920"/>
            <a:ext cx="146304" cy="1280160"/>
          </a:xfrm>
          <a:prstGeom prst="rect">
            <a:avLst/>
          </a:prstGeom>
          <a:solidFill>
            <a:srgbClr val="8A939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3252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2,3 мкм</a:t>
            </a:r>
            <a:endParaRPr lang="en-US" sz="1100" dirty="0"/>
          </a:p>
        </p:txBody>
      </p:sp>
      <p:sp>
        <p:nvSpPr>
          <p:cNvPr id="26" name="Выноска Ti"/>
          <p:cNvSpPr/>
          <p:nvPr/>
        </p:nvSpPr>
        <p:spPr>
          <a:xfrm flipH="1">
            <a:off x="8897112" y="2441448"/>
            <a:ext cx="155448" cy="329184"/>
          </a:xfrm>
          <a:prstGeom prst="line">
            <a:avLst/>
          </a:prstGeom>
          <a:noFill/>
          <a:ln w="9525">
            <a:solidFill>
              <a:srgbClr val="6C7A89"/>
            </a:solidFill>
            <a:prstDash val="solid"/>
          </a:ln>
        </p:spPr>
      </p:sp>
      <p:sp>
        <p:nvSpPr>
          <p:cNvPr id="27" name="Каптон"/>
          <p:cNvSpPr/>
          <p:nvPr/>
        </p:nvSpPr>
        <p:spPr>
          <a:xfrm>
            <a:off x="8970264" y="2788920"/>
            <a:ext cx="274320" cy="1280160"/>
          </a:xfrm>
          <a:prstGeom prst="rect">
            <a:avLst/>
          </a:prstGeom>
          <a:solidFill>
            <a:srgbClr val="5BC8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7260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Каптон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25 мкм</a:t>
            </a:r>
            <a:endParaRPr lang="en-US" sz="1100" dirty="0"/>
          </a:p>
        </p:txBody>
      </p:sp>
      <p:sp>
        <p:nvSpPr>
          <p:cNvPr id="29" name="Выноска Каптон"/>
          <p:cNvSpPr/>
          <p:nvPr/>
        </p:nvSpPr>
        <p:spPr>
          <a:xfrm flipH="1">
            <a:off x="9107424" y="2441448"/>
            <a:ext cx="585216" cy="329184"/>
          </a:xfrm>
          <a:prstGeom prst="line">
            <a:avLst/>
          </a:prstGeom>
          <a:noFill/>
          <a:ln w="9525">
            <a:solidFill>
              <a:srgbClr val="6C7A89"/>
            </a:solidFill>
            <a:prstDash val="solid"/>
          </a:ln>
        </p:spPr>
      </p:sp>
      <p:sp>
        <p:nvSpPr>
          <p:cNvPr id="30" name="ПММА"/>
          <p:cNvSpPr/>
          <p:nvPr/>
        </p:nvSpPr>
        <p:spPr>
          <a:xfrm>
            <a:off x="9244584" y="2788920"/>
            <a:ext cx="365760" cy="1280160"/>
          </a:xfrm>
          <a:prstGeom prst="rect">
            <a:avLst/>
          </a:prstGeom>
          <a:solidFill>
            <a:srgbClr val="3E7CB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1268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ПММА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15 мкм</a:t>
            </a:r>
            <a:endParaRPr lang="en-US" sz="1100" dirty="0"/>
          </a:p>
        </p:txBody>
      </p:sp>
      <p:sp>
        <p:nvSpPr>
          <p:cNvPr id="32" name="Выноска ПММА"/>
          <p:cNvSpPr/>
          <p:nvPr/>
        </p:nvSpPr>
        <p:spPr>
          <a:xfrm flipH="1">
            <a:off x="9427464" y="2441448"/>
            <a:ext cx="905256" cy="329184"/>
          </a:xfrm>
          <a:prstGeom prst="line">
            <a:avLst/>
          </a:prstGeom>
          <a:noFill/>
          <a:ln w="9525">
            <a:solidFill>
              <a:srgbClr val="6C7A89"/>
            </a:solidFill>
            <a:prstDash val="solid"/>
          </a:ln>
        </p:spPr>
      </p:sp>
      <p:sp>
        <p:nvSpPr>
          <p:cNvPr id="33" name="Окно в Au"/>
          <p:cNvSpPr/>
          <p:nvPr/>
        </p:nvSpPr>
        <p:spPr>
          <a:xfrm>
            <a:off x="8366760" y="3264408"/>
            <a:ext cx="457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38160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15</a:t>
            </a:r>
            <a:endParaRPr lang="en-US" sz="1100" dirty="0"/>
          </a:p>
        </p:txBody>
      </p:sp>
      <p:sp>
        <p:nvSpPr>
          <p:cNvPr id="35" name="Окно 15 мкм"/>
          <p:cNvSpPr/>
          <p:nvPr/>
        </p:nvSpPr>
        <p:spPr>
          <a:xfrm>
            <a:off x="8229600" y="4544568"/>
            <a:ext cx="457200" cy="457200"/>
          </a:xfrm>
          <a:prstGeom prst="rect">
            <a:avLst/>
          </a:prstGeom>
          <a:solidFill>
            <a:srgbClr val="E3A21A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98491" y="4713459"/>
            <a:ext cx="119417" cy="119417"/>
          </a:xfrm>
          <a:prstGeom prst="rect">
            <a:avLst/>
          </a:prstGeom>
          <a:solidFill>
            <a:srgbClr val="FFFFFF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05088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60</a:t>
            </a:r>
            <a:endParaRPr lang="en-US" sz="1100" dirty="0"/>
          </a:p>
        </p:txBody>
      </p:sp>
      <p:sp>
        <p:nvSpPr>
          <p:cNvPr id="38" name="Окно 60 мкм"/>
          <p:cNvSpPr/>
          <p:nvPr/>
        </p:nvSpPr>
        <p:spPr>
          <a:xfrm>
            <a:off x="8796528" y="4544568"/>
            <a:ext cx="457200" cy="457200"/>
          </a:xfrm>
          <a:prstGeom prst="rect">
            <a:avLst/>
          </a:prstGeom>
          <a:solidFill>
            <a:srgbClr val="E3A21A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42287" y="4690327"/>
            <a:ext cx="165683" cy="165683"/>
          </a:xfrm>
          <a:prstGeom prst="rect">
            <a:avLst/>
          </a:prstGeom>
          <a:solidFill>
            <a:srgbClr val="FFFFFF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72016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105</a:t>
            </a:r>
            <a:endParaRPr lang="en-US" sz="1100" dirty="0"/>
          </a:p>
        </p:txBody>
      </p:sp>
      <p:sp>
        <p:nvSpPr>
          <p:cNvPr id="41" name="Окно 105 мкм"/>
          <p:cNvSpPr/>
          <p:nvPr/>
        </p:nvSpPr>
        <p:spPr>
          <a:xfrm>
            <a:off x="9363456" y="4544568"/>
            <a:ext cx="457200" cy="457200"/>
          </a:xfrm>
          <a:prstGeom prst="rect">
            <a:avLst/>
          </a:prstGeom>
          <a:solidFill>
            <a:srgbClr val="E3A21A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94277" y="4675389"/>
            <a:ext cx="195559" cy="195559"/>
          </a:xfrm>
          <a:prstGeom prst="rect">
            <a:avLst/>
          </a:prstGeom>
          <a:solidFill>
            <a:srgbClr val="FFFFFF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38944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300</a:t>
            </a:r>
            <a:endParaRPr lang="en-US" sz="1100" dirty="0"/>
          </a:p>
        </p:txBody>
      </p:sp>
      <p:sp>
        <p:nvSpPr>
          <p:cNvPr id="44" name="Окно 300 мкм"/>
          <p:cNvSpPr/>
          <p:nvPr/>
        </p:nvSpPr>
        <p:spPr>
          <a:xfrm>
            <a:off x="9930384" y="4544568"/>
            <a:ext cx="457200" cy="457200"/>
          </a:xfrm>
          <a:prstGeom prst="rect">
            <a:avLst/>
          </a:prstGeom>
          <a:solidFill>
            <a:srgbClr val="E3A21A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18955" y="4633139"/>
            <a:ext cx="280057" cy="280057"/>
          </a:xfrm>
          <a:prstGeom prst="rect">
            <a:avLst/>
          </a:prstGeom>
          <a:solidFill>
            <a:srgbClr val="FFFFFF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405872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600</a:t>
            </a:r>
            <a:endParaRPr lang="en-US" sz="1100" dirty="0"/>
          </a:p>
        </p:txBody>
      </p:sp>
      <p:sp>
        <p:nvSpPr>
          <p:cNvPr id="47" name="Окно 600 мкм"/>
          <p:cNvSpPr/>
          <p:nvPr/>
        </p:nvSpPr>
        <p:spPr>
          <a:xfrm>
            <a:off x="10497312" y="4544568"/>
            <a:ext cx="457200" cy="457200"/>
          </a:xfrm>
          <a:prstGeom prst="rect">
            <a:avLst/>
          </a:prstGeom>
          <a:solidFill>
            <a:srgbClr val="E3A21A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43032" y="4590288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29600" y="50474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квадратные окна в Au, мкм</a:t>
            </a:r>
            <a:endParaRPr lang="en-US" sz="1100" dirty="0"/>
          </a:p>
        </p:txBody>
      </p:sp>
      <p:sp>
        <p:nvSpPr>
          <p:cNvPr id="50" name="Сканирование"/>
          <p:cNvSpPr/>
          <p:nvPr/>
        </p:nvSpPr>
        <p:spPr>
          <a:xfrm>
            <a:off x="10881360" y="2651760"/>
            <a:ext cx="914" cy="1554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10972800" y="3017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скани-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рование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±15 мм</a:t>
            </a:r>
            <a:endParaRPr lang="en-US" sz="1200" dirty="0"/>
          </a:p>
        </p:txBody>
      </p:sp>
      <p:sp>
        <p:nvSpPr>
          <p:cNvPr id="52" name="Этап 1"/>
          <p:cNvSpPr/>
          <p:nvPr/>
        </p:nvSpPr>
        <p:spPr>
          <a:xfrm>
            <a:off x="1463040" y="5486400"/>
            <a:ext cx="626364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645920" y="5541264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Этап 1.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источник → Be (аналитически) → Al → (удалённый сапфир) → фазовое пространство перед мембраной/шаблоном; кэшируется для всех окон</a:t>
            </a:r>
            <a:endParaRPr lang="en-US" sz="1300" dirty="0"/>
          </a:p>
        </p:txBody>
      </p:sp>
      <p:sp>
        <p:nvSpPr>
          <p:cNvPr id="54" name="Этап 2"/>
          <p:cNvSpPr/>
          <p:nvPr/>
        </p:nvSpPr>
        <p:spPr>
          <a:xfrm>
            <a:off x="7909560" y="5486400"/>
            <a:ext cx="3733495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092440" y="5541264"/>
            <a:ext cx="336773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Этап 2.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мембрана + шаблон + ПММА; доза на сетке 0,25–5 мкм у края окна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2 · ЧТО МОДЕЛИРОВАЛИ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считаем: откуда берётся доза в ПММА</a:t>
            </a:r>
            <a:endParaRPr lang="en-US" sz="3000" dirty="0"/>
          </a:p>
        </p:txBody>
      </p:sp>
      <p:sp>
        <p:nvSpPr>
          <p:cNvPr id="4" name="Мембрана (сечение)"/>
          <p:cNvSpPr/>
          <p:nvPr/>
        </p:nvSpPr>
        <p:spPr>
          <a:xfrm>
            <a:off x="1234440" y="1737360"/>
            <a:ext cx="1188720" cy="4251960"/>
          </a:xfrm>
          <a:prstGeom prst="rect">
            <a:avLst/>
          </a:prstGeom>
          <a:solidFill>
            <a:srgbClr val="9B7BC8">
              <a:alpha val="65000"/>
            </a:srgbClr>
          </a:solidFill>
          <a:ln w="12700">
            <a:solidFill>
              <a:srgbClr val="9B7BC8"/>
            </a:solidFill>
            <a:prstDash val="solid"/>
          </a:ln>
        </p:spPr>
      </p:sp>
      <p:sp>
        <p:nvSpPr>
          <p:cNvPr id="5" name="Au верх (сечение)"/>
          <p:cNvSpPr/>
          <p:nvPr/>
        </p:nvSpPr>
        <p:spPr>
          <a:xfrm>
            <a:off x="3246120" y="1737360"/>
            <a:ext cx="411480" cy="1508760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6" name="Au низ (сечение)"/>
          <p:cNvSpPr/>
          <p:nvPr/>
        </p:nvSpPr>
        <p:spPr>
          <a:xfrm>
            <a:off x="3246120" y="4160520"/>
            <a:ext cx="411480" cy="1828800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7" name="Ti (сечение)"/>
          <p:cNvSpPr/>
          <p:nvPr/>
        </p:nvSpPr>
        <p:spPr>
          <a:xfrm>
            <a:off x="3657600" y="1737360"/>
            <a:ext cx="109728" cy="4251960"/>
          </a:xfrm>
          <a:prstGeom prst="rect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8" name="Каптон (сечение)"/>
          <p:cNvSpPr/>
          <p:nvPr/>
        </p:nvSpPr>
        <p:spPr>
          <a:xfrm>
            <a:off x="3767328" y="1737360"/>
            <a:ext cx="274320" cy="4251960"/>
          </a:xfrm>
          <a:prstGeom prst="rect">
            <a:avLst/>
          </a:prstGeom>
          <a:solidFill>
            <a:srgbClr val="5BC8D6"/>
          </a:solidFill>
          <a:ln w="12700">
            <a:solidFill>
              <a:srgbClr val="5BC8D6"/>
            </a:solidFill>
            <a:prstDash val="solid"/>
          </a:ln>
        </p:spPr>
      </p:sp>
      <p:sp>
        <p:nvSpPr>
          <p:cNvPr id="9" name="ПММА (сечение)"/>
          <p:cNvSpPr/>
          <p:nvPr/>
        </p:nvSpPr>
        <p:spPr>
          <a:xfrm>
            <a:off x="4041648" y="1737360"/>
            <a:ext cx="685800" cy="4251960"/>
          </a:xfrm>
          <a:prstGeom prst="rect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1463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мембрана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2344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Au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4630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234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каптон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1463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ПММА</a:t>
            </a:r>
            <a:endParaRPr lang="en-US" sz="1100" dirty="0"/>
          </a:p>
        </p:txBody>
      </p:sp>
      <p:sp>
        <p:nvSpPr>
          <p:cNvPr id="15" name="Падающий фотон 1"/>
          <p:cNvSpPr/>
          <p:nvPr/>
        </p:nvSpPr>
        <p:spPr>
          <a:xfrm>
            <a:off x="548640" y="2057400"/>
            <a:ext cx="640080" cy="914"/>
          </a:xfrm>
          <a:prstGeom prst="line">
            <a:avLst/>
          </a:prstGeom>
          <a:noFill/>
          <a:ln w="28575">
            <a:solidFill>
              <a:srgbClr val="E3A21A"/>
            </a:solidFill>
            <a:prstDash val="solid"/>
            <a:tailEnd type="triangle"/>
          </a:ln>
        </p:spPr>
      </p:sp>
      <p:sp>
        <p:nvSpPr>
          <p:cNvPr id="16" name="Падающий фотон 2"/>
          <p:cNvSpPr/>
          <p:nvPr/>
        </p:nvSpPr>
        <p:spPr>
          <a:xfrm>
            <a:off x="548640" y="2743200"/>
            <a:ext cx="640080" cy="914"/>
          </a:xfrm>
          <a:prstGeom prst="line">
            <a:avLst/>
          </a:prstGeom>
          <a:noFill/>
          <a:ln w="28575">
            <a:solidFill>
              <a:srgbClr val="E3A21A"/>
            </a:solidFill>
            <a:prstDash val="solid"/>
            <a:tailEnd type="triangle"/>
          </a:ln>
        </p:spPr>
      </p:sp>
      <p:sp>
        <p:nvSpPr>
          <p:cNvPr id="17" name="Падающий фотон 3"/>
          <p:cNvSpPr/>
          <p:nvPr/>
        </p:nvSpPr>
        <p:spPr>
          <a:xfrm>
            <a:off x="548640" y="3520440"/>
            <a:ext cx="640080" cy="914"/>
          </a:xfrm>
          <a:prstGeom prst="line">
            <a:avLst/>
          </a:prstGeom>
          <a:noFill/>
          <a:ln w="28575">
            <a:solidFill>
              <a:srgbClr val="E3A21A"/>
            </a:solidFill>
            <a:prstDash val="solid"/>
            <a:tailEnd type="triangle"/>
          </a:ln>
        </p:spPr>
      </p:sp>
      <p:sp>
        <p:nvSpPr>
          <p:cNvPr id="18" name="Падающий фотон 4"/>
          <p:cNvSpPr/>
          <p:nvPr/>
        </p:nvSpPr>
        <p:spPr>
          <a:xfrm>
            <a:off x="548640" y="3886200"/>
            <a:ext cx="640080" cy="914"/>
          </a:xfrm>
          <a:prstGeom prst="line">
            <a:avLst/>
          </a:prstGeom>
          <a:noFill/>
          <a:ln w="28575">
            <a:solidFill>
              <a:srgbClr val="E3A21A"/>
            </a:solidFill>
            <a:prstDash val="solid"/>
            <a:tailEnd type="triangle"/>
          </a:ln>
        </p:spPr>
      </p:sp>
      <p:sp>
        <p:nvSpPr>
          <p:cNvPr id="19" name="Падающий фотон 5"/>
          <p:cNvSpPr/>
          <p:nvPr/>
        </p:nvSpPr>
        <p:spPr>
          <a:xfrm>
            <a:off x="548640" y="5120640"/>
            <a:ext cx="640080" cy="914"/>
          </a:xfrm>
          <a:prstGeom prst="line">
            <a:avLst/>
          </a:prstGeom>
          <a:noFill/>
          <a:ln w="28575">
            <a:solidFill>
              <a:srgbClr val="E3A21A"/>
            </a:solidFill>
            <a:prstDash val="solid"/>
            <a:tailEnd type="triangle"/>
          </a:ln>
        </p:spPr>
      </p:sp>
      <p:sp>
        <p:nvSpPr>
          <p:cNvPr id="20" name="Прямой фотон через окно"/>
          <p:cNvSpPr/>
          <p:nvPr/>
        </p:nvSpPr>
        <p:spPr>
          <a:xfrm>
            <a:off x="2423160" y="3703320"/>
            <a:ext cx="2212848" cy="914"/>
          </a:xfrm>
          <a:prstGeom prst="line">
            <a:avLst/>
          </a:prstGeom>
          <a:noFill/>
          <a:ln w="31750">
            <a:solidFill>
              <a:srgbClr val="E3A21A"/>
            </a:solidFill>
            <a:prstDash val="solid"/>
            <a:tailEnd type="triangle"/>
          </a:ln>
        </p:spPr>
      </p:sp>
      <p:sp>
        <p:nvSpPr>
          <p:cNvPr id="21" name="Поглощён в Au"/>
          <p:cNvSpPr/>
          <p:nvPr/>
        </p:nvSpPr>
        <p:spPr>
          <a:xfrm>
            <a:off x="2423160" y="2057400"/>
            <a:ext cx="804672" cy="914"/>
          </a:xfrm>
          <a:prstGeom prst="line">
            <a:avLst/>
          </a:prstGeom>
          <a:noFill/>
          <a:ln w="25400">
            <a:solidFill>
              <a:srgbClr val="E3A21A"/>
            </a:solidFill>
            <a:prstDash val="solid"/>
            <a:tailEnd type="oval"/>
          </a:ln>
        </p:spPr>
      </p:sp>
      <p:sp>
        <p:nvSpPr>
          <p:cNvPr id="22" name="Рассеяние в мембране"/>
          <p:cNvSpPr/>
          <p:nvPr/>
        </p:nvSpPr>
        <p:spPr>
          <a:xfrm>
            <a:off x="1920240" y="2743200"/>
            <a:ext cx="2532888" cy="2148840"/>
          </a:xfrm>
          <a:prstGeom prst="line">
            <a:avLst/>
          </a:prstGeom>
          <a:noFill/>
          <a:ln w="25400">
            <a:solidFill>
              <a:srgbClr val="C8463D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56232" y="2679192"/>
            <a:ext cx="128016" cy="128016"/>
          </a:xfrm>
          <a:prstGeom prst="ellipse">
            <a:avLst/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</p:sp>
      <p:sp>
        <p:nvSpPr>
          <p:cNvPr id="24" name="Флуоресценция Au/Ti"/>
          <p:cNvSpPr/>
          <p:nvPr/>
        </p:nvSpPr>
        <p:spPr>
          <a:xfrm>
            <a:off x="3474720" y="5120640"/>
            <a:ext cx="1024128" cy="594360"/>
          </a:xfrm>
          <a:prstGeom prst="line">
            <a:avLst/>
          </a:prstGeom>
          <a:noFill/>
          <a:ln w="22225">
            <a:solidFill>
              <a:srgbClr val="8A5A00"/>
            </a:solidFill>
            <a:prstDash val="sysDot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10712" y="5056632"/>
            <a:ext cx="128016" cy="128016"/>
          </a:xfrm>
          <a:prstGeom prst="ellipse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26" name="Фотоэлектрон"/>
          <p:cNvSpPr/>
          <p:nvPr/>
        </p:nvSpPr>
        <p:spPr>
          <a:xfrm>
            <a:off x="4224528" y="3794760"/>
            <a:ext cx="320040" cy="5486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7" name="Скобка тень 0"/>
          <p:cNvSpPr/>
          <p:nvPr/>
        </p:nvSpPr>
        <p:spPr>
          <a:xfrm>
            <a:off x="4837176" y="1737360"/>
            <a:ext cx="109728" cy="1463040"/>
          </a:xfrm>
          <a:prstGeom prst="rightBracket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01768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тень</a:t>
            </a:r>
            <a:endParaRPr lang="en-US" sz="1200" dirty="0"/>
          </a:p>
        </p:txBody>
      </p:sp>
      <p:sp>
        <p:nvSpPr>
          <p:cNvPr id="29" name="Скобка открыто 1"/>
          <p:cNvSpPr/>
          <p:nvPr/>
        </p:nvSpPr>
        <p:spPr>
          <a:xfrm>
            <a:off x="4837176" y="3291840"/>
            <a:ext cx="109728" cy="822960"/>
          </a:xfrm>
          <a:prstGeom prst="rightBracket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01768" y="3566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открыто</a:t>
            </a:r>
            <a:endParaRPr lang="en-US" sz="1200" dirty="0"/>
          </a:p>
        </p:txBody>
      </p:sp>
      <p:sp>
        <p:nvSpPr>
          <p:cNvPr id="31" name="Скобка тень 2"/>
          <p:cNvSpPr/>
          <p:nvPr/>
        </p:nvSpPr>
        <p:spPr>
          <a:xfrm>
            <a:off x="4837176" y="4206240"/>
            <a:ext cx="109728" cy="1783080"/>
          </a:xfrm>
          <a:prstGeom prst="rightBracket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01768" y="49606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тень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146304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Механизмы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2103120"/>
            <a:ext cx="548640" cy="0"/>
          </a:xfrm>
          <a:prstGeom prst="line">
            <a:avLst/>
          </a:prstGeom>
          <a:noFill/>
          <a:ln w="28575">
            <a:solidFill>
              <a:srgbClr val="E3A21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0" y="196596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прямые фотоны: доза под окном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0" y="2578608"/>
            <a:ext cx="548640" cy="0"/>
          </a:xfrm>
          <a:prstGeom prst="line">
            <a:avLst/>
          </a:prstGeom>
          <a:noFill/>
          <a:ln w="28575">
            <a:solidFill>
              <a:srgbClr val="C8463D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7132320" y="2441448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рассеяние в мембране (рэлей, комптон) — главный объект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0" y="3054096"/>
            <a:ext cx="548640" cy="0"/>
          </a:xfrm>
          <a:prstGeom prst="line">
            <a:avLst/>
          </a:prstGeom>
          <a:noFill/>
          <a:ln w="28575">
            <a:solidFill>
              <a:srgbClr val="8A5A00"/>
            </a:solidFill>
            <a:prstDash val="sysDot"/>
          </a:ln>
        </p:spPr>
      </p:sp>
      <p:sp>
        <p:nvSpPr>
          <p:cNvPr id="39" name="Text 37"/>
          <p:cNvSpPr txBox="1"/>
          <p:nvPr/>
        </p:nvSpPr>
        <p:spPr>
          <a:xfrm>
            <a:off x="7132320" y="2916936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флуоресценция шаблона: Au L 9,7–11,4 кэВ, Ti K 4,5 кэВ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0" y="3529584"/>
            <a:ext cx="548640" cy="0"/>
          </a:xfrm>
          <a:prstGeom prst="line">
            <a:avLst/>
          </a:prstGeom>
          <a:noFill/>
          <a:ln w="28575">
            <a:solidFill>
              <a:srgbClr val="0F2B4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32320" y="3392424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фото-, оже-электроны: пробег до ~7 мкм в ПММА</a:t>
            </a:r>
            <a:endParaRPr lang="en-US" sz="1400" dirty="0"/>
          </a:p>
        </p:txBody>
      </p:sp>
      <p:sp>
        <p:nvSpPr>
          <p:cNvPr id="42" name="Классификация историй"/>
          <p:cNvSpPr/>
          <p:nvPr/>
        </p:nvSpPr>
        <p:spPr>
          <a:xfrm>
            <a:off x="6400800" y="3931920"/>
            <a:ext cx="5242255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29400" y="4041648"/>
            <a:ext cx="47850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Классификация историй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Каждый трек несёт битовую маску «где и как рассеивался»; вторичные частицы наследуют её. Энерговыделение раскладывается на 9 непересекающихся категорий (сумма = полная доза).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мембр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доля дозы от историй с рассеянием в мембране; «тень» — под Au дальше 20 мкм от края.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2 · ЧТО МОДЕЛИРОВАЛИ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Geant4: физика, ускорения, проверка</a:t>
            </a:r>
            <a:endParaRPr lang="en-US" sz="3000" dirty="0"/>
          </a:p>
        </p:txBody>
      </p:sp>
      <p:sp>
        <p:nvSpPr>
          <p:cNvPr id="4" name="Физика"/>
          <p:cNvSpPr/>
          <p:nvPr/>
        </p:nvSpPr>
        <p:spPr>
          <a:xfrm>
            <a:off x="548640" y="1417320"/>
            <a:ext cx="3520440" cy="4709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Физика — круг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Физика —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940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Физика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Livermore (EPDL/EEDL/EADL): фотоэффект, рэлей, комптон с доплеровским уширением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атомная релаксация: флуоресценция и оже-каскад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поляризация СИ (89 % σ); контроль: Penelope, option4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пороги рождения 0,3–1 мкм (до 100 эВ)</a:t>
            </a:r>
            <a:endParaRPr lang="en-US" sz="1400" dirty="0"/>
          </a:p>
        </p:txBody>
      </p:sp>
      <p:sp>
        <p:nvSpPr>
          <p:cNvPr id="9" name="Ускорения"/>
          <p:cNvSpPr/>
          <p:nvPr/>
        </p:nvSpPr>
        <p:spPr>
          <a:xfrm>
            <a:off x="4343400" y="1417320"/>
            <a:ext cx="3520440" cy="4709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Ускорения — круг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Ускорения —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133" y="17940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Ускорения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двухэтапный транспорт с кэшем фазового пространства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принудительное взаимодействие в ПММА, мембране, каптоне — выигрыш ×150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выборка по значимости у края окна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отсечение электронов, не достающих до ПММА; многопоточность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141732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Проверки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4,8 %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1920240"/>
            <a:ext cx="1676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μ Geant4 против NIST XCOM, 5–30 кэВ, все материалы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13816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0,5–4 %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9966960" y="2971800"/>
            <a:ext cx="1676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поток и время экспозиции против диссертации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13816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2 %</a:t>
            </a:r>
            <a:endParaRPr lang="en-US" sz="2800" dirty="0"/>
          </a:p>
        </p:txBody>
      </p:sp>
      <p:sp>
        <p:nvSpPr>
          <p:cNvPr id="20" name="Text 16"/>
          <p:cNvSpPr txBox="1"/>
          <p:nvPr/>
        </p:nvSpPr>
        <p:spPr>
          <a:xfrm>
            <a:off x="9966960" y="4023360"/>
            <a:ext cx="1676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разброс дозы между моделями ЭМ-физики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138160" y="5074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/ 0</a:t>
            </a:r>
            <a:endParaRPr lang="en-US" sz="2800" dirty="0"/>
          </a:p>
        </p:txBody>
      </p:sp>
      <p:sp>
        <p:nvSpPr>
          <p:cNvPr id="22" name="Text 18"/>
          <p:cNvSpPr txBox="1"/>
          <p:nvPr/>
        </p:nvSpPr>
        <p:spPr>
          <a:xfrm>
            <a:off x="9966960" y="5074920"/>
            <a:ext cx="1676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автоматических проверок / провалов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3 · ОГРАНИЧЕНИЯ МОДЕЛИ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нет в модели материалов</a:t>
            </a:r>
            <a:endParaRPr lang="en-US" sz="3000" dirty="0"/>
          </a:p>
        </p:txBody>
      </p:sp>
      <p:graphicFrame>
        <p:nvGraphicFramePr>
          <p:cNvPr id="9" name="Таблица ограничений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78308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Эффект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Учтён?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Что это может изменить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Монокристалличность Al₂O₃: брэгговская дифракция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</a:rPr>
                        <a:t>нет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рефлексы под большими углами — дополнительная «рассеянная» доза; ориентация кристалла неизвестна, Geant4 этого не умеет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Поликристалличность Be, Ti: зёрна, текстура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</a:rPr>
                        <a:t>нет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когерентное рассеяние перераспределяется в кольца Дебая–Шеррера; в модели — свободные атомы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Поры стеклоуглерода, границы зёрен Be (SAXS)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</a:rPr>
                        <a:t>нет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углы ~мрад → смещение ~0,5 мкм на толщине мембраны — меньше пробега электронов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Шероховатость, разнотолщинность мембран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</a:rPr>
                        <a:t>нет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локальные вариации пропускания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Подложка ПММА, зазоры, ориентация шаблона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</a:rPr>
                        <a:t>параметры есть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подложка — рост дозы у дна; прогоны чувствительности ещё не сделаны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Проявление ПММА (кинетика R(D))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</a:rPr>
                        <a:t>феноменологически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доза ≠ рельеф; без калибровки R(D) — только качественное сравнение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Следствие"/>
          <p:cNvSpPr/>
          <p:nvPr/>
        </p:nvSpPr>
        <p:spPr>
          <a:xfrm>
            <a:off x="8732520" y="1417320"/>
            <a:ext cx="2910535" cy="4572000"/>
          </a:xfrm>
          <a:prstGeom prst="roundRect">
            <a:avLst>
              <a:gd name="adj" fmla="val 251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Внимание — круг"/>
          <p:cNvSpPr/>
          <p:nvPr/>
        </p:nvSpPr>
        <p:spPr>
          <a:xfrm>
            <a:off x="9006840" y="16916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Внимание —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317" y="1852117"/>
            <a:ext cx="273406" cy="2734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06840" y="2423160"/>
            <a:ext cx="2361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Что это значит для результатов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006840" y="3154680"/>
            <a:ext cx="236189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Все мембраны описаны как однородные аморфные слои с табличной плотностью.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Для лейкосапфира вклад рассеяния — оценка снизу: брэгговские рефлексы монокристалла нужно оценить отдельно.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3 · ОГРАНИЧЕНИЯ МОДЕЛИ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Частицы вместо волн: что теряем и что получаем</a:t>
            </a:r>
            <a:endParaRPr lang="en-US" sz="3000" dirty="0"/>
          </a:p>
        </p:txBody>
      </p:sp>
      <p:sp>
        <p:nvSpPr>
          <p:cNvPr id="4" name="Теряем (волновые эффекты)"/>
          <p:cNvSpPr/>
          <p:nvPr/>
        </p:nvSpPr>
        <p:spPr>
          <a:xfrm>
            <a:off x="548640" y="1417320"/>
            <a:ext cx="402336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Теряем (волновые эффекты) — круг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Теряем (волновые эффекты) —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940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Теряем (волновые эффекты)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френелевскую дифракцию на краю окна Au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интерференцию когерентного рассеяния: брэгговские рефлексы, кольца Дебая–Шеррера, SAXS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фазовый контраст на границах слоёв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частичную когерентность пучка СИ</a:t>
            </a:r>
            <a:endParaRPr lang="en-US" sz="1400" dirty="0"/>
          </a:p>
        </p:txBody>
      </p:sp>
      <p:sp>
        <p:nvSpPr>
          <p:cNvPr id="9" name="Получаем (Geant4)"/>
          <p:cNvSpPr/>
          <p:nvPr/>
        </p:nvSpPr>
        <p:spPr>
          <a:xfrm>
            <a:off x="4846320" y="1417320"/>
            <a:ext cx="402336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Получаем (Geant4) — круг"/>
          <p:cNvSpPr/>
          <p:nvPr/>
        </p:nvSpPr>
        <p:spPr>
          <a:xfrm>
            <a:off x="507492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Получаем (Geant4) —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053" y="17940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Получаем (Geant4)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074920" y="23774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полный каскад: фото-, оже-, комптон-электроны, флуоресценция Au L и Ti 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3D-транспорт в многослойной стопке, любая геометрия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абсолютную дозу (Дж/см³) и её разложение по историям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полихроматический спектр и поляризацию СИ</a:t>
            </a:r>
            <a:endParaRPr lang="en-US" sz="1400" dirty="0"/>
          </a:p>
        </p:txBody>
      </p:sp>
      <p:sp>
        <p:nvSpPr>
          <p:cNvPr id="14" name="Оценка Френеля"/>
          <p:cNvSpPr/>
          <p:nvPr/>
        </p:nvSpPr>
        <p:spPr>
          <a:xfrm>
            <a:off x="9144000" y="1417320"/>
            <a:ext cx="2499055" cy="365760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418320" y="1691640"/>
            <a:ext cx="1950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Почему частиц достаточно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418320" y="2148840"/>
            <a:ext cx="1950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√(λz) 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 мкм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418320" y="3108960"/>
            <a:ext cx="1950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зона Френеля при 20 кэВ (λ = 0,062 нм) и z ≈ 42 мкм от Au до дна ПММА — в 100 раз меньше ширины края по дозе (3,2–6,2 мкм) и пробега фотоэлектронов (до 7 мкм).</a:t>
            </a:r>
            <a:endParaRPr lang="en-US" sz="1300" dirty="0"/>
          </a:p>
        </p:txBody>
      </p:sp>
      <p:sp>
        <p:nvSpPr>
          <p:cNvPr id="18" name="Вывод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DF3DC"/>
          </a:solidFill>
          <a:ln w="9525">
            <a:solidFill>
              <a:srgbClr val="F2D08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Итог: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для края окна волновые эффекты пренебрежимы; существенны они только внутри кристаллических и пористых мембран — это оцениваем отдельно (брэгг, SAXS).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4 · СРАВНЕНИЕ МАТЕРИАЛОВ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 рассеяния в мембране: сапфир вплотную — лидер</a:t>
            </a:r>
            <a:endParaRPr lang="en-US" sz="3000" dirty="0"/>
          </a:p>
        </p:txBody>
      </p:sp>
      <p:graphicFrame>
        <p:nvGraphicFramePr>
          <p:cNvPr id="4" name="Доля рассеяния по материалам" descr=""/>
          <p:cNvGraphicFramePr/>
          <p:nvPr/>
        </p:nvGraphicFramePr>
        <p:xfrm>
          <a:off x="548640" y="141732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Вывод 1"/>
          <p:cNvSpPr/>
          <p:nvPr/>
        </p:nvSpPr>
        <p:spPr>
          <a:xfrm>
            <a:off x="8412480" y="1417320"/>
            <a:ext cx="323057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41080" y="1554480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 / 5,4 %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130552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Al₂O₃ 525 мкм вплотную: открыто / тень</a:t>
            </a:r>
            <a:endParaRPr lang="en-US" sz="1300" dirty="0"/>
          </a:p>
        </p:txBody>
      </p:sp>
      <p:sp>
        <p:nvSpPr>
          <p:cNvPr id="8" name="Вывод 2"/>
          <p:cNvSpPr/>
          <p:nvPr/>
        </p:nvSpPr>
        <p:spPr>
          <a:xfrm>
            <a:off x="8412480" y="2898648"/>
            <a:ext cx="323057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41080" y="3035808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×25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3611880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меньше в тени, если тот же сапфир отнести на 280 мм</a:t>
            </a:r>
            <a:endParaRPr lang="en-US" sz="1300" dirty="0"/>
          </a:p>
        </p:txBody>
      </p:sp>
      <p:sp>
        <p:nvSpPr>
          <p:cNvPr id="11" name="Вывод 3"/>
          <p:cNvSpPr/>
          <p:nvPr/>
        </p:nvSpPr>
        <p:spPr>
          <a:xfrm>
            <a:off x="8412480" y="4379976"/>
            <a:ext cx="323057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41080" y="4517136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5093208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открыто для Be, стеклоуглерода и Ti; в тени &lt; 3 %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Профиль quick: 2·10⁶ историй на окно; доза за экспозицию опыта; f — доля энерговыделения историй с рассеянием в мембране.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4 · СРАВНЕНИЕ МАТЕРИАЛОВ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больше окно, тем больше вклад рассеяния</a:t>
            </a:r>
            <a:endParaRPr lang="en-US" sz="3000" dirty="0"/>
          </a:p>
        </p:txBody>
      </p:sp>
      <p:graphicFrame>
        <p:nvGraphicFramePr>
          <p:cNvPr id="12" name="f мембр по окна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89622"/>
                <a:gridCol w="1089622"/>
                <a:gridCol w="1089622"/>
                <a:gridCol w="1089622"/>
                <a:gridCol w="1089622"/>
                <a:gridCol w="1089622"/>
                <a:gridCol w="1089622"/>
                <a:gridCol w="108962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Мембрана  \  окно, мкм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600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Be 200 мкм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0,04 / 0,22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0,33 / 1,12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0,40 / 1,59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B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0,52 / 2,21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2D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Стеклоуглерод 475 мкм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0,07 / 0,40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0,63 / 1,48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D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0,85 / 2,93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9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1,04 / 4,15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ACC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Al₂O₃ 525 мкм, контакт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0,67 / 1,56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2,87 / 2,69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2,94 / 3,11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7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3,95 / 5,38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0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4,49 / 7,49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8FB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Al₂O₃ 525 мкм, 280 мм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0,09 / 0,05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0,15 / 0,10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0,14 / 0,06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0,14 / 0,21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0,15 / 0,08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Ti 2.3 мкм (расчёт)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0,01 / 0,03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0,01 / 0,03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0,07 / 0,29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0,09 / 0,36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239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 мембр, %: под окном / в тени; цвет — доля в тени</a:t>
            </a:r>
            <a:endParaRPr lang="en-US" sz="1100" dirty="0"/>
          </a:p>
        </p:txBody>
      </p:sp>
      <p:sp>
        <p:nvSpPr>
          <p:cNvPr id="6" name="Почему растёт"/>
          <p:cNvSpPr/>
          <p:nvPr/>
        </p:nvSpPr>
        <p:spPr>
          <a:xfrm>
            <a:off x="548640" y="4507992"/>
            <a:ext cx="5410048" cy="1755648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Почему растёт — круг"/>
          <p:cNvSpPr/>
          <p:nvPr/>
        </p:nvSpPr>
        <p:spPr>
          <a:xfrm>
            <a:off x="731520" y="46908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Почему растёт —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308" y="4826660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4690872"/>
            <a:ext cx="444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Почему растёт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285232"/>
            <a:ext cx="50442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точку под окном рассеянные фотоны приходят из конуса, который «вырезает» окно в золоте: шире окно — больше площадь мембраны, видимая из ПММА. Al₂O₃ вплотную: 0,7 → 4,5 % под окном (20→600 мкм); стеклоуглерод: 0,07 → 1,0 %.</a:t>
            </a:r>
            <a:endParaRPr lang="en-US" sz="1400" dirty="0"/>
          </a:p>
        </p:txBody>
      </p:sp>
      <p:sp>
        <p:nvSpPr>
          <p:cNvPr id="11" name="Почему не растёт в 280 мм"/>
          <p:cNvSpPr/>
          <p:nvPr/>
        </p:nvSpPr>
        <p:spPr>
          <a:xfrm>
            <a:off x="6233008" y="4507992"/>
            <a:ext cx="5410048" cy="1755648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Почему не растёт в 280 мм — круг"/>
          <p:cNvSpPr/>
          <p:nvPr/>
        </p:nvSpPr>
        <p:spPr>
          <a:xfrm>
            <a:off x="6415888" y="46908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Почему не растёт в 280 мм —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4826660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55968" y="4690872"/>
            <a:ext cx="444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Почему не растёт в 280 мм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15888" y="5285232"/>
            <a:ext cx="50442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Рассеянные фотоны от удалённого сапфира приходят к маске почти равномерным фоном — окно их не «собирает»: 0,09–0,15 % при любом размере окна.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4 · СРАВНЕНИЕ МАТЕРИАЛОВ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так: масса, состав и расстояние</a:t>
            </a:r>
            <a:endParaRPr lang="en-US" sz="3000" dirty="0"/>
          </a:p>
        </p:txBody>
      </p:sp>
      <p:graphicFrame>
        <p:nvGraphicFramePr>
          <p:cNvPr id="4" name="Вероятность рассеяния 20 кэВ" descr=""/>
          <p:cNvGraphicFramePr/>
          <p:nvPr/>
        </p:nvGraphicFramePr>
        <p:xfrm>
          <a:off x="548640" y="1417320"/>
          <a:ext cx="54864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Таблица материал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08760"/>
          <a:ext cx="533369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896112"/>
                <a:gridCol w="868680"/>
                <a:gridCol w="896112"/>
                <a:gridCol w="88696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Мембрана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ρd, мг/см²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T(20 кэВ)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 расс.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 мембр, тень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Be 200 мкм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99 %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0,68 %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1,59 %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Стеклоуглерод 475 мкм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97 %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1,59 %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2,93 %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Al₂O₃ 525 мкм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63 %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6,36 %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5,38 %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Ti 2,3 мкм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98 %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0,06 %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0,29 %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Масса на пути пучка"/>
          <p:cNvSpPr/>
          <p:nvPr/>
        </p:nvSpPr>
        <p:spPr>
          <a:xfrm>
            <a:off x="548640" y="425196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Масса на пути пучка — круг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Масса на пути пучка —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08" y="4570628"/>
            <a:ext cx="231343" cy="23134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71600" y="4434840"/>
            <a:ext cx="2555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Масса на пути пучка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31520" y="5029200"/>
            <a:ext cx="31494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Сапфир 209 мг/см² — в 3–6 раз больше Be и стеклоуглерода; Ti 2,3 мкм — всего 1 мг/см². Вероятность рассеяния ∝ ρd.</a:t>
            </a:r>
            <a:endParaRPr lang="en-US" sz="1300" dirty="0"/>
          </a:p>
        </p:txBody>
      </p:sp>
      <p:sp>
        <p:nvSpPr>
          <p:cNvPr id="11" name="Z и рэлеевское рассеяние"/>
          <p:cNvSpPr/>
          <p:nvPr/>
        </p:nvSpPr>
        <p:spPr>
          <a:xfrm>
            <a:off x="4338218" y="425196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Z и рэлеевское рассеяние — круг"/>
          <p:cNvSpPr/>
          <p:nvPr/>
        </p:nvSpPr>
        <p:spPr>
          <a:xfrm>
            <a:off x="4521098" y="4434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Z и рэлеевское рассеяние —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887" y="4570628"/>
            <a:ext cx="231343" cy="23134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161178" y="4434840"/>
            <a:ext cx="2555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Z и рэлеевское рассеяние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4521098" y="5029200"/>
            <a:ext cx="31494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 Al₂O₃ (Z = 8, 13) рэлей — половина рассеяния; он направлен вперёд и доходит до края окна: в тени 3,3 % из 5,4 % «мембранных».</a:t>
            </a:r>
            <a:endParaRPr lang="en-US" sz="1300" dirty="0"/>
          </a:p>
        </p:txBody>
      </p:sp>
      <p:sp>
        <p:nvSpPr>
          <p:cNvPr id="16" name="Расстояние до маски"/>
          <p:cNvSpPr/>
          <p:nvPr/>
        </p:nvSpPr>
        <p:spPr>
          <a:xfrm>
            <a:off x="8127797" y="425196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Расстояние до маски — круг"/>
          <p:cNvSpPr/>
          <p:nvPr/>
        </p:nvSpPr>
        <p:spPr>
          <a:xfrm>
            <a:off x="8310677" y="4434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Расстояние до маски —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465" y="4570628"/>
            <a:ext cx="231343" cy="23134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50757" y="4434840"/>
            <a:ext cx="2555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Расстояние до маски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310677" y="5029200"/>
            <a:ext cx="31494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 280 мм рассеянные фотоны расходятся по площади ~(L·θ)² — до окрестности окна доходит в десятки раз меньше.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4 · СРАВНЕНИЕ МАТЕРИАЛОВ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Доза под золотом создаёт в основном сам шаблон</a:t>
            </a:r>
            <a:endParaRPr lang="en-US" sz="3000" dirty="0"/>
          </a:p>
        </p:txBody>
      </p:sp>
      <p:graphicFrame>
        <p:nvGraphicFramePr>
          <p:cNvPr id="4" name="Разложение дозы в тени" descr=""/>
          <p:cNvGraphicFramePr/>
          <p:nvPr/>
        </p:nvGraphicFramePr>
        <p:xfrm>
          <a:off x="54864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Профиль дозы у края, сапфир вплотную" descr="/Users/afpalka/srdiffraction/srdiffraction/results/runs/sapphire_contact/hole_300um_quick/analysis/edge_profile_catego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17320"/>
            <a:ext cx="4053535" cy="285541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589520" y="4318451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Профиль дозы поперёк края, Al₂O₃ вплотную, окно 300 мкм (лог. шкала)</a:t>
            </a:r>
            <a:endParaRPr lang="en-US" sz="1100" dirty="0"/>
          </a:p>
        </p:txBody>
      </p:sp>
      <p:sp>
        <p:nvSpPr>
          <p:cNvPr id="7" name="Вывод"/>
          <p:cNvSpPr/>
          <p:nvPr/>
        </p:nvSpPr>
        <p:spPr>
          <a:xfrm>
            <a:off x="548640" y="571500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FDF3DC"/>
          </a:solidFill>
          <a:ln w="9525">
            <a:solidFill>
              <a:srgbClr val="F2D08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760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Вторичное излучение шаблона — 43–54 % дозы в тени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(Au L, Ti K, фотоэлектроны каптона); ширина края 3,2–6,2 мкм ≈ пробег фотоэлектронов, а не рассеяние в мембране.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5 · ЭКСПЕРИМЕНТ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Эксперимент: экспонирование и интерферометрия</a:t>
            </a:r>
            <a:endParaRPr lang="en-US" sz="3000" dirty="0"/>
          </a:p>
        </p:txBody>
      </p:sp>
      <p:sp>
        <p:nvSpPr>
          <p:cNvPr id="4" name="Шаг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Экспонирование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станция LIGA ВЭПП-3, 30 000–37 000 мА·мин, сканирование ±15 мм; мембрана + шаблон с окнами 15–600 мкм</a:t>
            </a:r>
            <a:endParaRPr lang="en-US" sz="1400" dirty="0"/>
          </a:p>
        </p:txBody>
      </p:sp>
      <p:sp>
        <p:nvSpPr>
          <p:cNvPr id="7" name="Шаг 2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Проявление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ПММА 15 мкм (сверхмолекулярный, 10⁷ г/моль); 1 мин в диэтиленгликольмонобутиловом эфире</a:t>
            </a:r>
            <a:endParaRPr lang="en-US" sz="1400" dirty="0"/>
          </a:p>
        </p:txBody>
      </p:sp>
      <p:sp>
        <p:nvSpPr>
          <p:cNvPr id="10" name="Шаг 3"/>
          <p:cNvSpPr/>
          <p:nvPr/>
        </p:nvSpPr>
        <p:spPr>
          <a:xfrm>
            <a:off x="548640" y="375818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730752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Измерение рельефа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напыление Au; микроинтерферометр МИИ-4, 0,27 мкм на полосу; 106 снимков</a:t>
            </a:r>
            <a:endParaRPr lang="en-US" sz="1400" dirty="0"/>
          </a:p>
        </p:txBody>
      </p:sp>
      <p:sp>
        <p:nvSpPr>
          <p:cNvPr id="13" name="Шаг 4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901184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Обработка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профили края аппроксимированы arctg; наша независимая обработка: 2 метода, 63 из 106 кадров дают относительный профиль</a:t>
            </a:r>
            <a:endParaRPr lang="en-US" sz="1400" dirty="0"/>
          </a:p>
        </p:txBody>
      </p:sp>
      <p:pic>
        <p:nvPicPr>
          <p:cNvPr id="16" name="Обработка интерферограммы" descr="/Users/afpalka/srdiffraction/srdiffraction/results/interferometry/qa/7b46a665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17320"/>
            <a:ext cx="5973775" cy="381141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669280" y="5301888"/>
            <a:ext cx="5973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Leikosaphire_25/27u28(100): исходный скриншот, полосы, отслеживание полос, маска качества, фаза (Фурье), относительная высота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5 · ЭКСПЕРИМЕНТ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Недостатки эксперимента, мешающие сравнению</a:t>
            </a:r>
            <a:endParaRPr lang="en-US" sz="3000" dirty="0"/>
          </a:p>
        </p:txBody>
      </p:sp>
      <p:graphicFrame>
        <p:nvGraphicFramePr>
          <p:cNvPr id="16" name="Таблица недостатк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8015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Проблема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Как мешает сходимости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Нет калибровки мкм/пиксель и карты отверстий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профили только в пикселях; кадр нельзя надёжно приписать отверстию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Скриншоты JPEG вместо исходных кадров; один кадр без сдвига фазы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фаза по модулю 2π: глубина неоднозначна (до ~55 периодов на 15 мкм), знак не определяется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Единицы аппроксимаций не ясны: b до 112 «мкм» при ПММА 15 мкм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ширины краёв сравниваются только условно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Рельеф ≠ доза: кинетика растворения R(D), боковое проявление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без калибровки R(D) и режима проявления сравнение качественное [9]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Расчётная доза 0,5–1,3 кДж/см³ ниже порога ПММА 2 кДж/см³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вопрос к экспозициям/фильтрам или к порогу сверхмолекулярного ПММА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Расхождения документов: Be 200/220 мкм, каптон 20/25 мкм; нет данных о подложке и зазорах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систематика ~10 % по рассеянию и не оценённые эффекты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Несмотря на это, сравнить модель с экспериментом можно на уровне ширин переходов — следующий слайд.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5 · ЭКСПЕРИМЕНТ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с моделью: ширина края по окнам</a:t>
            </a:r>
            <a:endParaRPr lang="en-US" sz="3000" dirty="0"/>
          </a:p>
        </p:txBody>
      </p:sp>
      <p:graphicFrame>
        <p:nvGraphicFramePr>
          <p:cNvPr id="4" name="Сравнение ширин по окнам" descr=""/>
          <p:cNvGraphicFramePr/>
          <p:nvPr/>
        </p:nvGraphicFramePr>
        <p:xfrm>
          <a:off x="548640" y="1371600"/>
          <a:ext cx="72237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Порядок совпадает"/>
          <p:cNvSpPr/>
          <p:nvPr/>
        </p:nvSpPr>
        <p:spPr>
          <a:xfrm>
            <a:off x="8138160" y="1417320"/>
            <a:ext cx="350489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Порядок совпадает — круг"/>
          <p:cNvSpPr/>
          <p:nvPr/>
        </p:nvSpPr>
        <p:spPr>
          <a:xfrm>
            <a:off x="832104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Порядок совпадает —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484" y="1723644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15400" y="1600200"/>
            <a:ext cx="2590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Порядок совпадает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2103120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модель 3,6–5,8 мкм, аппроксимации 0,15–29 «мкм»; в пределах ×2 — 10 из 16 окон</a:t>
            </a:r>
            <a:endParaRPr lang="en-US" sz="1300" dirty="0"/>
          </a:p>
        </p:txBody>
      </p:sp>
      <p:sp>
        <p:nvSpPr>
          <p:cNvPr id="10" name="Связи по окнам нет"/>
          <p:cNvSpPr/>
          <p:nvPr/>
        </p:nvSpPr>
        <p:spPr>
          <a:xfrm>
            <a:off x="8138160" y="2898648"/>
            <a:ext cx="350489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Связи по окнам нет — круг"/>
          <p:cNvSpPr/>
          <p:nvPr/>
        </p:nvSpPr>
        <p:spPr>
          <a:xfrm>
            <a:off x="8321040" y="3081528"/>
            <a:ext cx="457200" cy="4572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12" name="Связи по окнам нет —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3204972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15400" y="3081528"/>
            <a:ext cx="2590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Связи по окнам нет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3584448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модель почти не зависит от окна, аппроксимации скачут (Be: 5,2–29,0); коэффициент корреляции 0,18</a:t>
            </a:r>
            <a:endParaRPr lang="en-US" sz="1300" dirty="0"/>
          </a:p>
        </p:txBody>
      </p:sp>
      <p:sp>
        <p:nvSpPr>
          <p:cNvPr id="15" name="С моделью проявления"/>
          <p:cNvSpPr/>
          <p:nvPr/>
        </p:nvSpPr>
        <p:spPr>
          <a:xfrm>
            <a:off x="8138160" y="4379976"/>
            <a:ext cx="350489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С моделью проявления — круг"/>
          <p:cNvSpPr/>
          <p:nvPr/>
        </p:nvSpPr>
        <p:spPr>
          <a:xfrm>
            <a:off x="8321040" y="456285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С моделью проявления —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484" y="4686300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15400" y="4562856"/>
            <a:ext cx="2590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 моделью проявления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5065776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Geant4 + эйкональное проявление (R(D) не калибрована): 0,2–3,1 мкм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Сравниваются разные величины: ширина дозового профиля и ширина аппроксимации рельефа; единицы аппроксимаций не подтверждены. Окна без формулы в ТЗ (Be 600, Al₂O₃ вплотную 300) не показаны.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6 · ВЫВОДЫ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Выводы: сходимость модели и эксперимента</a:t>
            </a:r>
            <a:endParaRPr lang="en-US" sz="3000" dirty="0"/>
          </a:p>
        </p:txBody>
      </p:sp>
      <p:sp>
        <p:nvSpPr>
          <p:cNvPr id="4" name="Модель проверена независимо — круг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Модель проверена независимо —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173964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63040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проверена независимо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01952"/>
            <a:ext cx="1013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спектр и нормировка совпали с диссертацией (0,5–4 %), коэффициенты ослабления — с NIST (≤ 4,8 %), 36 проверок без провалов</a:t>
            </a:r>
            <a:endParaRPr lang="en-US" sz="1500" dirty="0"/>
          </a:p>
        </p:txBody>
      </p:sp>
      <p:sp>
        <p:nvSpPr>
          <p:cNvPr id="8" name="Качественная сходимость есть — круг"/>
          <p:cNvSpPr/>
          <p:nvPr/>
        </p:nvSpPr>
        <p:spPr>
          <a:xfrm>
            <a:off x="548640" y="2743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Качественная сходимость есть —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2928366"/>
            <a:ext cx="315468" cy="3154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651760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Качественная сходимость есть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090672"/>
            <a:ext cx="1013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ширины краёв одного порядка (единицы мкм), но по отдельным окнам модель и аппроксимации не коррелируют; край формируют электроны и флуоресценция шаблона</a:t>
            </a:r>
            <a:endParaRPr lang="en-US" sz="1500" dirty="0"/>
          </a:p>
        </p:txBody>
      </p:sp>
      <p:sp>
        <p:nvSpPr>
          <p:cNvPr id="12" name="Количественной сходимости пока нет — круг"/>
          <p:cNvSpPr/>
          <p:nvPr/>
        </p:nvSpPr>
        <p:spPr>
          <a:xfrm>
            <a:off x="548640" y="3931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Количественной сходимости пока нет —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117086"/>
            <a:ext cx="315468" cy="3154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840480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Количественной сходимости пока нет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279392"/>
            <a:ext cx="1013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не хватает калибровок эксперимента: масштаб X, единицы аппроксимаций, R(D); доза ниже табличного порога</a:t>
            </a:r>
            <a:endParaRPr lang="en-US" sz="1500" dirty="0"/>
          </a:p>
        </p:txBody>
      </p:sp>
      <p:sp>
        <p:nvSpPr>
          <p:cNvPr id="16" name="Для выбора материала — круг"/>
          <p:cNvSpPr/>
          <p:nvPr/>
        </p:nvSpPr>
        <p:spPr>
          <a:xfrm>
            <a:off x="548640" y="5120640"/>
            <a:ext cx="685800" cy="685800"/>
          </a:xfrm>
          <a:prstGeom prst="ellipse">
            <a:avLst/>
          </a:prstGeom>
          <a:solidFill>
            <a:srgbClr val="5BC8D6"/>
          </a:solidFill>
          <a:ln w="12700">
            <a:solidFill>
              <a:srgbClr val="5BC8D6"/>
            </a:solidFill>
            <a:prstDash val="solid"/>
          </a:ln>
        </p:spPr>
      </p:sp>
      <p:pic>
        <p:nvPicPr>
          <p:cNvPr id="17" name="Для выбора материала —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" y="5305806"/>
            <a:ext cx="315468" cy="3154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029200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выбора материала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468112"/>
            <a:ext cx="1013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рассеяние в мембране (окно 300 мкм): &lt; 1 % под окном у Be, стеклоуглерода, Ti и 4,0 / 5,4 % у сапфира вплотную (до 7,5 % у окна 600 мкм); удаление на 280 мм убирает эффект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6 · ВЫВОДЫ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улучшить эксперимент и что моделировать дальше</a:t>
            </a:r>
            <a:endParaRPr lang="en-US" sz="3000" dirty="0"/>
          </a:p>
        </p:txBody>
      </p:sp>
      <p:sp>
        <p:nvSpPr>
          <p:cNvPr id="4" name="Эксперимент"/>
          <p:cNvSpPr/>
          <p:nvPr/>
        </p:nvSpPr>
        <p:spPr>
          <a:xfrm>
            <a:off x="548640" y="1417320"/>
            <a:ext cx="5410048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Эксперимент — круг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Эксперимент —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940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Эксперимент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90712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калибровка мкм/пиксель (эталон), карта отверстий, журнал кадров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исходные кадры камеры, серии со сдвигом фазы → однозначная глубина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независимый профиль: профилометр, СЭМ скола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калибровка R(D): ступени доз на одном образце, фиксированные t и T проявления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записать подложку, зазоры, ориентацию шаблона, реальные толщины</a:t>
            </a:r>
            <a:endParaRPr lang="en-US" sz="1600" dirty="0"/>
          </a:p>
        </p:txBody>
      </p:sp>
      <p:sp>
        <p:nvSpPr>
          <p:cNvPr id="9" name="Моделирование"/>
          <p:cNvSpPr/>
          <p:nvPr/>
        </p:nvSpPr>
        <p:spPr>
          <a:xfrm>
            <a:off x="6233008" y="1417320"/>
            <a:ext cx="5410048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Моделирование — круг"/>
          <p:cNvSpPr/>
          <p:nvPr/>
        </p:nvSpPr>
        <p:spPr>
          <a:xfrm>
            <a:off x="6461608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Моделирование —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740" y="17940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47408" y="169164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Моделирование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423160"/>
            <a:ext cx="490712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скан толщин мембран → допустимые диапазоны толщин для рекомендаций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статистика standard; чувствительность: зазоры, ориентация шаблона, подложка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брэгговские рефлексы сапфира (по ориентации кристалла) и SAXS стеклоуглерода вне Geant4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уровень B: доза → R(D) → рельеф, проверка leave-one-hole-out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новые кандидаты мембран (Si₃N₄, SiC, алмаз, Si, полиимид) тем же конвейером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ЛИТЕРАТУРА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Saile V., Wallrabe U., Tabata O., Korvink J. G. (eds.) LIGA and its applications. Wiley-VCH, 2009.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Гольденберг Б. Г. Диссертация (2011): рентгеношаблоны для глубокой рентгенолитографии, станция LIGA ВЭПП-3.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Zumaqué H., Kohring G. A., Hormes J. Simulational studies of energy deposition and secondary processes in deep X-ray lithography // J. Micromech. Microeng. 1997. Vol. 7.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Faisal A., Beckenbach T., Mohr J., Meyer P. Influence of secondary effects in the fabrication of submicron resist structures using deep X-ray lithography // J. Micro/Nanolith. MEMS MOEMS. 2019. Vol. 18, No. 2. 023502.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Vitreous carbon mask substrate for X-ray lithography. Patent US 7608367 B1 (Sandia National Laboratories).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Goldenberg B. G., Lemzyakov A. G., Nazmov V. P., Pindyurin V. F. Multifunctional X-ray lithography station at VEPP-3 // Physics Procedia. 2016. Vol. 84.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Lemzyakov A. G. et al. Manufacturing of high resolution X-ray masks for LIGA technology in SSTRC // SFR-2016, ИЯФ СО РАН.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Назьмов В. П., Варанд А. В., Михайленко М. А. и др. Полиметилметакрилат с молекулярной массой 10⁷ г/моль для рентгеновской литографии // Поверхность. 2023. № 6. С. 27–31.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Pantenburg F. J., Achenbach S., Mohr J. Influence of developer temperature and resist material on the structure quality in deep X-ray lithography // J. Vac. Sci. Technol. B. 1998. Vol. 16. P. 3547.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Agostinelli S. et al. Geant4 — a simulation toolkit // NIM A 506 (2003) 250; Allison J. et al. // IEEE TNS 53 (2006) 270; NIM A 835 (2016) 186.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Hubbell J. H., Seltzer S. M. Tables of X-ray mass attenuation coefficients, NISTIR 5632.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A Synchrotron">
  <a:themeElements>
    <a:clrScheme name="LIGA Synchrotron">
      <a:dk1>
        <a:srgbClr val="1B1F2A"/>
      </a:dk1>
      <a:lt1>
        <a:srgbClr val="FFFFFF"/>
      </a:lt1>
      <a:dk2>
        <a:srgbClr val="0F2B46"/>
      </a:dk2>
      <a:lt2>
        <a:srgbClr val="EEF2F6"/>
      </a:lt2>
      <a:accent1>
        <a:srgbClr val="E3A21A"/>
      </a:accent1>
      <a:accent2>
        <a:srgbClr val="1F8A9E"/>
      </a:accent2>
      <a:accent3>
        <a:srgbClr val="C8463D"/>
      </a:accent3>
      <a:accent4>
        <a:srgbClr val="6C7A89"/>
      </a:accent4>
      <a:accent5>
        <a:srgbClr val="7B5EA7"/>
      </a:accent5>
      <a:accent6>
        <a:srgbClr val="3E7CB1"/>
      </a:accent6>
      <a:hlink>
        <a:srgbClr val="1F8A9E"/>
      </a:hlink>
      <a:folHlink>
        <a:srgbClr val="7B5EA7"/>
      </a:folHlink>
    </a:clrScheme>
    <a:fontScheme name="LIGA Synchrotr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Рассеяние СИ в мембранах рентгеношаблонов</dc:title>
  <dc:subject>Станция LIGA ВЭПП-3, моделирование Geant4</dc:subject>
  <dc:creator>PptxGenJS</dc:creator>
  <cp:lastModifiedBy>PptxGenJS</cp:lastModifiedBy>
  <cp:revision>1</cp:revision>
  <dcterms:created xsi:type="dcterms:W3CDTF">2026-10-20T17:52:11Z</dcterms:created>
  <dcterms:modified xsi:type="dcterms:W3CDTF">2026-10-20T17:52:11Z</dcterms:modified>
</cp:coreProperties>
</file>